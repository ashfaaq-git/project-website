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C970-74C3-0AF1-4F38-D187379A4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E1F90-A194-A492-7BED-CEABF8A23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6DF49-0D97-E59C-B78A-D962A6CAA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FA546-F68B-19ED-A4CF-068F53F8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97AD6-53F9-4751-AF3B-2FB7E751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0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132E-C107-DCC5-428F-607E9E89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9FD65-EBD9-5D56-5CE7-64C21E8A7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08BB9-CED6-AA17-60D1-B82B52197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6BE8D-A9DF-4246-4444-4BD14D1F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7B246-2859-63BA-DBD7-8D043BAF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6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D1205-B07C-9197-0BBF-A429617B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61568-E89D-037A-5B1B-C08642B89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F9A7F-C425-C667-C091-5718CFBE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BD96D-EDCA-EF0C-74CB-3619E274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A2EA9-45B2-0F0B-FDA2-D11E7A7C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586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6B56E-7933-5A42-8F8F-AD670B6A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A2438-D4FD-B12E-5037-4367B7912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1C1B0-27D1-BFA7-1185-389EECECF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E5E31-C77E-9692-935D-70D0D284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23EFE-8B77-D282-BC86-289B8AC9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D2136-CF8D-114D-5C5C-B40DC885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897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10F1-1905-B513-F476-00D6C0C74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19095-5C88-82A8-EDB9-22164FEB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BB0E8-2A3E-B6E7-4FFA-78134B672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4ACD8-38EE-0916-76B4-BDE376B37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68E268-2692-0A59-84CB-F38DB4CD4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C8AB56-7163-1875-FD17-8040A78EE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400E60-2514-E59D-4ECC-5C4BC842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75673-2596-97B4-D383-616AFE8D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77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5CC2-4200-A147-5FDC-153F9A13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1805CA-9340-B4B4-A309-063D4299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5A707-5908-5E3F-41AB-7755C249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988D3-273C-89B0-08CC-02B487A2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74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3929C-8357-B86D-9F63-3F56D5BA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E95E4-6ABF-07B1-31A6-AC9ED5D75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34348-F341-FF87-D0BC-37D68FEB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49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906B-551E-F672-FC62-59DC62E0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7FCE7-77C3-D0EE-05AA-CC5B86FF2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FB1EE-7A3B-A84E-7A11-C1B6C639C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B769D-33B0-2B9E-2BF8-18443E88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6E0AF-9B73-169C-16EE-E45BF86C5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60D31-8F7A-F969-E5B8-745FAA99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67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7AA55-8D95-077C-A545-7C3D8D26D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27DA9B-AA16-9692-3537-FF0D3529EC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930D4-D3F4-3545-A1BE-202D2833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2A65D-86D8-986F-1860-ED969274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CDA93-2DFD-6F39-E477-B7DE883AC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554D7-B033-36D1-D183-11756516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62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2A11-5B5A-47A3-6139-3FCAD5CC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9B264-FDC8-DB0D-9C92-769FEB6A1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724DE-7CFA-534C-3627-EA1FFE66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E5C45-37D3-20A2-3962-775709F8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FBB1D-C0DB-664A-8F26-9223EF13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12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2E56B-6BAB-FEE1-D8D4-0C5E9A3B0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5CAFD-DBCE-4909-6375-F14900E22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AA9C-9F3C-D77E-EB2F-0A9CE924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AAD0B-7D5A-2610-6091-C60520423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BA0BB-D217-065E-2F6E-A8D70296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6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0D96C8-C99E-4DDD-6AAA-74FAD51E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E125A-E6FA-BEA2-F416-AF68929E0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2714F-CCEC-847A-A3BA-970145AD5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965F8-AB52-49A0-85DD-4C911B131350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DA03F-3B6F-F9CF-D37E-7A8B90A07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CC20E-079A-B2FD-41DD-FCA12DA0C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EB155-55B1-4397-B023-F0A53F578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11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01770-1285-CE51-9F85-2EAF066EA407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Laser Beam Alarm Security System with Blynk Cloud Monitoring &amp; Gmail Alerts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912DFB6-47F3-EE6B-31DC-8107F584381E}"/>
              </a:ext>
            </a:extLst>
          </p:cNvPr>
          <p:cNvSpPr txBox="1"/>
          <p:nvPr/>
        </p:nvSpPr>
        <p:spPr>
          <a:xfrm>
            <a:off x="5791200" y="4642125"/>
            <a:ext cx="6096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Udayasai Ramineni(11802872)</a:t>
            </a:r>
          </a:p>
          <a:p>
            <a:pPr>
              <a:spcAft>
                <a:spcPts val="600"/>
              </a:spcAft>
            </a:pPr>
            <a:r>
              <a:rPr lang="en-US"/>
              <a:t>Ashfaaq Ahamed Kapatrala(11786442</a:t>
            </a:r>
            <a:r>
              <a:rPr lang="en-IN"/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4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98E53A-6D3B-83FF-BCD7-53C2926893A8}"/>
              </a:ext>
            </a:extLst>
          </p:cNvPr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1369CA-DAF6-98DB-9A6F-C2C6217A5900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21BFE-EF22-0C48-5E47-6C4080C1F8F5}"/>
              </a:ext>
            </a:extLst>
          </p:cNvPr>
          <p:cNvSpPr txBox="1"/>
          <p:nvPr/>
        </p:nvSpPr>
        <p:spPr>
          <a:xfrm>
            <a:off x="190500" y="698500"/>
            <a:ext cx="501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Segoe UI" panose="020B0502040204020203" pitchFamily="34" charset="0"/>
              </a:rPr>
              <a:t>Laser Beam Alarm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7D2CC-44B1-C8B0-F111-676EBA921CA7}"/>
              </a:ext>
            </a:extLst>
          </p:cNvPr>
          <p:cNvSpPr txBox="1"/>
          <p:nvPr/>
        </p:nvSpPr>
        <p:spPr>
          <a:xfrm>
            <a:off x="190500" y="1333500"/>
            <a:ext cx="501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Segoe UI" panose="020B0502040204020203" pitchFamily="34" charset="0"/>
              </a:rPr>
              <a:t>Security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89F6AB-E268-3D38-93F2-DE992F337912}"/>
              </a:ext>
            </a:extLst>
          </p:cNvPr>
          <p:cNvSpPr txBox="1"/>
          <p:nvPr/>
        </p:nvSpPr>
        <p:spPr>
          <a:xfrm>
            <a:off x="190500" y="2006600"/>
            <a:ext cx="5016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7EC8E3"/>
                </a:solidFill>
                <a:latin typeface="Segoe UI" panose="020B0502040204020203" pitchFamily="34" charset="0"/>
              </a:rPr>
              <a:t>with Blynk Cloud Monitoring &amp; Gmail Alerts</a:t>
            </a:r>
            <a:endParaRPr lang="en-IN" sz="1100">
              <a:solidFill>
                <a:srgbClr val="7EC8E3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97335-5E8A-D4A4-769D-F6FEC93B6824}"/>
              </a:ext>
            </a:extLst>
          </p:cNvPr>
          <p:cNvSpPr txBox="1"/>
          <p:nvPr/>
        </p:nvSpPr>
        <p:spPr>
          <a:xfrm>
            <a:off x="190500" y="2438400"/>
            <a:ext cx="501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>
                <a:solidFill>
                  <a:srgbClr val="B0C4D8"/>
                </a:solidFill>
                <a:latin typeface="Segoe UI" panose="020B0502040204020203" pitchFamily="34" charset="0"/>
              </a:rPr>
              <a:t>Milestone 1: System Design &amp; Hardware Justification</a:t>
            </a:r>
            <a:endParaRPr lang="en-IN" sz="95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8C74B2-9983-9703-7094-A5E492DF1FF4}"/>
              </a:ext>
            </a:extLst>
          </p:cNvPr>
          <p:cNvSpPr/>
          <p:nvPr/>
        </p:nvSpPr>
        <p:spPr>
          <a:xfrm>
            <a:off x="190500" y="3048000"/>
            <a:ext cx="1530350" cy="279400"/>
          </a:xfrm>
          <a:prstGeom prst="rect">
            <a:avLst/>
          </a:prstGeom>
          <a:solidFill>
            <a:srgbClr val="1A324A"/>
          </a:solidFill>
          <a:ln w="12700">
            <a:solidFill>
              <a:srgbClr val="7EC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F7952-2DAC-30D1-6E91-A5DDB0DE11B6}"/>
              </a:ext>
            </a:extLst>
          </p:cNvPr>
          <p:cNvSpPr txBox="1"/>
          <p:nvPr/>
        </p:nvSpPr>
        <p:spPr>
          <a:xfrm>
            <a:off x="266700" y="3086100"/>
            <a:ext cx="14287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7EC8E3"/>
                </a:solidFill>
                <a:latin typeface="Segoe UI" panose="020B0502040204020203" pitchFamily="34" charset="0"/>
              </a:rPr>
              <a:t>Raspberry Pi Pico 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411DDA-3A52-7CAF-9A29-F03642CE0D3E}"/>
              </a:ext>
            </a:extLst>
          </p:cNvPr>
          <p:cNvSpPr/>
          <p:nvPr/>
        </p:nvSpPr>
        <p:spPr>
          <a:xfrm>
            <a:off x="1797050" y="3048000"/>
            <a:ext cx="901700" cy="279400"/>
          </a:xfrm>
          <a:prstGeom prst="rect">
            <a:avLst/>
          </a:prstGeom>
          <a:solidFill>
            <a:srgbClr val="1A324A"/>
          </a:solidFill>
          <a:ln w="12700">
            <a:solidFill>
              <a:srgbClr val="7EC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1FA21-3955-63C0-9915-D1F88812189A}"/>
              </a:ext>
            </a:extLst>
          </p:cNvPr>
          <p:cNvSpPr txBox="1"/>
          <p:nvPr/>
        </p:nvSpPr>
        <p:spPr>
          <a:xfrm>
            <a:off x="1873250" y="3086100"/>
            <a:ext cx="80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7EC8E3"/>
                </a:solidFill>
                <a:latin typeface="Segoe UI" panose="020B0502040204020203" pitchFamily="34" charset="0"/>
              </a:rPr>
              <a:t>LDR Sensor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766AEF-83C6-0877-8AC0-50BBC29C2BC8}"/>
              </a:ext>
            </a:extLst>
          </p:cNvPr>
          <p:cNvSpPr/>
          <p:nvPr/>
        </p:nvSpPr>
        <p:spPr>
          <a:xfrm>
            <a:off x="2774950" y="3048000"/>
            <a:ext cx="1041400" cy="279400"/>
          </a:xfrm>
          <a:prstGeom prst="rect">
            <a:avLst/>
          </a:prstGeom>
          <a:solidFill>
            <a:srgbClr val="1A324A"/>
          </a:solidFill>
          <a:ln w="12700">
            <a:solidFill>
              <a:srgbClr val="7EC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EECEE8-B88D-1E76-7053-8D3C747694C2}"/>
              </a:ext>
            </a:extLst>
          </p:cNvPr>
          <p:cNvSpPr txBox="1"/>
          <p:nvPr/>
        </p:nvSpPr>
        <p:spPr>
          <a:xfrm>
            <a:off x="2851150" y="3086100"/>
            <a:ext cx="93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7EC8E3"/>
                </a:solidFill>
                <a:latin typeface="Segoe UI" panose="020B0502040204020203" pitchFamily="34" charset="0"/>
              </a:rPr>
              <a:t>Laser Module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82CAF7-DF0A-0CFA-7F72-89C0200929C4}"/>
              </a:ext>
            </a:extLst>
          </p:cNvPr>
          <p:cNvSpPr/>
          <p:nvPr/>
        </p:nvSpPr>
        <p:spPr>
          <a:xfrm>
            <a:off x="3892550" y="3048000"/>
            <a:ext cx="1250950" cy="279400"/>
          </a:xfrm>
          <a:prstGeom prst="rect">
            <a:avLst/>
          </a:prstGeom>
          <a:solidFill>
            <a:srgbClr val="1A324A"/>
          </a:solidFill>
          <a:ln w="12700">
            <a:solidFill>
              <a:srgbClr val="80E8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B42511-87D0-28AB-2ABA-C8F8439B746B}"/>
              </a:ext>
            </a:extLst>
          </p:cNvPr>
          <p:cNvSpPr txBox="1"/>
          <p:nvPr/>
        </p:nvSpPr>
        <p:spPr>
          <a:xfrm>
            <a:off x="3968750" y="3086100"/>
            <a:ext cx="11493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80E880"/>
                </a:solidFill>
                <a:latin typeface="Segoe UI" panose="020B0502040204020203" pitchFamily="34" charset="0"/>
              </a:rPr>
              <a:t>Blynk IoT Cloud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48DE1-31B3-D6C0-96EE-C5200A9C0DDA}"/>
              </a:ext>
            </a:extLst>
          </p:cNvPr>
          <p:cNvSpPr/>
          <p:nvPr/>
        </p:nvSpPr>
        <p:spPr>
          <a:xfrm>
            <a:off x="190500" y="3403600"/>
            <a:ext cx="901700" cy="279400"/>
          </a:xfrm>
          <a:prstGeom prst="rect">
            <a:avLst/>
          </a:prstGeom>
          <a:solidFill>
            <a:srgbClr val="1A324A"/>
          </a:solidFill>
          <a:ln w="12700">
            <a:solidFill>
              <a:srgbClr val="FFC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5574E0-9123-C631-2547-4E16F90A4825}"/>
              </a:ext>
            </a:extLst>
          </p:cNvPr>
          <p:cNvSpPr txBox="1"/>
          <p:nvPr/>
        </p:nvSpPr>
        <p:spPr>
          <a:xfrm>
            <a:off x="266700" y="3441700"/>
            <a:ext cx="800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FFC870"/>
                </a:solidFill>
                <a:latin typeface="Segoe UI" panose="020B0502040204020203" pitchFamily="34" charset="0"/>
              </a:rPr>
              <a:t>Gmail SMTP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65A53-07C7-ABB4-121F-A2E47C93B94E}"/>
              </a:ext>
            </a:extLst>
          </p:cNvPr>
          <p:cNvSpPr/>
          <p:nvPr/>
        </p:nvSpPr>
        <p:spPr>
          <a:xfrm>
            <a:off x="1168400" y="3403600"/>
            <a:ext cx="971550" cy="279400"/>
          </a:xfrm>
          <a:prstGeom prst="rect">
            <a:avLst/>
          </a:prstGeom>
          <a:solidFill>
            <a:srgbClr val="1A324A"/>
          </a:solidFill>
          <a:ln w="12700">
            <a:solidFill>
              <a:srgbClr val="FF7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FEC92B-FB23-8128-D581-A3F78F4C37C3}"/>
              </a:ext>
            </a:extLst>
          </p:cNvPr>
          <p:cNvSpPr txBox="1"/>
          <p:nvPr/>
        </p:nvSpPr>
        <p:spPr>
          <a:xfrm>
            <a:off x="1244600" y="3441700"/>
            <a:ext cx="8699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FF7070"/>
                </a:solidFill>
                <a:latin typeface="Segoe UI" panose="020B0502040204020203" pitchFamily="34" charset="0"/>
              </a:rPr>
              <a:t>MicroPython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229044-563B-1387-937D-28CC35C80EE2}"/>
              </a:ext>
            </a:extLst>
          </p:cNvPr>
          <p:cNvSpPr/>
          <p:nvPr/>
        </p:nvSpPr>
        <p:spPr>
          <a:xfrm>
            <a:off x="5524500" y="762000"/>
            <a:ext cx="6477000" cy="50800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A36547-E728-A33E-08C5-0E78B1D60F65}"/>
              </a:ext>
            </a:extLst>
          </p:cNvPr>
          <p:cNvSpPr txBox="1"/>
          <p:nvPr/>
        </p:nvSpPr>
        <p:spPr>
          <a:xfrm>
            <a:off x="5715000" y="8890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7EC8E3"/>
                </a:solidFill>
                <a:latin typeface="Segoe UI" panose="020B0502040204020203" pitchFamily="34" charset="0"/>
              </a:rPr>
              <a:t>Project Motivation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63AB67-F566-6B87-DDEE-1C754F28CDD8}"/>
              </a:ext>
            </a:extLst>
          </p:cNvPr>
          <p:cNvSpPr txBox="1"/>
          <p:nvPr/>
        </p:nvSpPr>
        <p:spPr>
          <a:xfrm>
            <a:off x="5715000" y="12700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B0C4D8"/>
                </a:solidFill>
                <a:latin typeface="Segoe UI" panose="020B0502040204020203" pitchFamily="34" charset="0"/>
              </a:rPr>
              <a:t>Physical security systems are critical for protecting doorways, gates, and restricted areas.</a:t>
            </a:r>
          </a:p>
          <a:p>
            <a:endParaRPr lang="en-US" sz="1000">
              <a:solidFill>
                <a:srgbClr val="B0C4D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B0C4D8"/>
                </a:solidFill>
                <a:latin typeface="Segoe UI" panose="020B0502040204020203" pitchFamily="34" charset="0"/>
              </a:rPr>
              <a:t>This project enhances a classic laser trip-wire alarm by adding IoT capabilities:</a:t>
            </a:r>
          </a:p>
          <a:p>
            <a:endParaRPr lang="en-US" sz="1000">
              <a:solidFill>
                <a:srgbClr val="B0C4D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B0C4D8"/>
                </a:solidFill>
                <a:latin typeface="Segoe UI" panose="020B0502040204020203" pitchFamily="34" charset="0"/>
              </a:rPr>
              <a:t>&gt;&gt; Real-time sensor monitoring via Blynk Cloud</a:t>
            </a:r>
          </a:p>
          <a:p>
            <a:r>
              <a:rPr lang="en-US" sz="1000">
                <a:solidFill>
                  <a:srgbClr val="B0C4D8"/>
                </a:solidFill>
                <a:latin typeface="Segoe UI" panose="020B0502040204020203" pitchFamily="34" charset="0"/>
              </a:rPr>
              <a:t>&gt;&gt; Instant push notifications to owner's phone</a:t>
            </a:r>
          </a:p>
          <a:p>
            <a:r>
              <a:rPr lang="en-US" sz="1000">
                <a:solidFill>
                  <a:srgbClr val="B0C4D8"/>
                </a:solidFill>
                <a:latin typeface="Segoe UI" panose="020B0502040204020203" pitchFamily="34" charset="0"/>
              </a:rPr>
              <a:t>&gt;&gt; Automated Gmail alerts on intrusion detection</a:t>
            </a:r>
          </a:p>
          <a:p>
            <a:endParaRPr lang="en-US" sz="1000">
              <a:solidFill>
                <a:srgbClr val="B0C4D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B0C4D8"/>
                </a:solidFill>
                <a:latin typeface="Segoe UI" panose="020B0502040204020203" pitchFamily="34" charset="0"/>
              </a:rPr>
              <a:t>The result is a smart, remotely monitored embedded security system.</a:t>
            </a:r>
            <a:endParaRPr lang="en-IN" sz="10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562102-7811-5E6F-7874-F5F1FDD6CD6D}"/>
              </a:ext>
            </a:extLst>
          </p:cNvPr>
          <p:cNvSpPr/>
          <p:nvPr/>
        </p:nvSpPr>
        <p:spPr>
          <a:xfrm>
            <a:off x="0" y="6527800"/>
            <a:ext cx="12192000" cy="3302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F5B06F-E151-C357-A80B-4750C45D071A}"/>
              </a:ext>
            </a:extLst>
          </p:cNvPr>
          <p:cNvSpPr txBox="1"/>
          <p:nvPr/>
        </p:nvSpPr>
        <p:spPr>
          <a:xfrm>
            <a:off x="101600" y="6553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CSCE 5612  |  Embedded Hardware/Software Design  |  Spring 2026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7DFE8E-5BEC-498D-8DED-9D4151BE255B}"/>
              </a:ext>
            </a:extLst>
          </p:cNvPr>
          <p:cNvSpPr txBox="1"/>
          <p:nvPr/>
        </p:nvSpPr>
        <p:spPr>
          <a:xfrm>
            <a:off x="11176000" y="65532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340727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374649-E5B8-1130-630A-AD66EFA0191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CB7ED9-78AC-3F1D-CE7B-83B5814FAF22}"/>
              </a:ext>
            </a:extLst>
          </p:cNvPr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B67D1-871B-B8C8-301D-6CD383A194E3}"/>
              </a:ext>
            </a:extLst>
          </p:cNvPr>
          <p:cNvSpPr txBox="1"/>
          <p:nvPr/>
        </p:nvSpPr>
        <p:spPr>
          <a:xfrm>
            <a:off x="101600" y="635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System Architecture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C4000-E1CA-64EE-2284-8F73F487EDB5}"/>
              </a:ext>
            </a:extLst>
          </p:cNvPr>
          <p:cNvSpPr txBox="1"/>
          <p:nvPr/>
        </p:nvSpPr>
        <p:spPr>
          <a:xfrm>
            <a:off x="1016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EC8E3"/>
                </a:solidFill>
                <a:latin typeface="Segoe UI" panose="020B0502040204020203" pitchFamily="34" charset="0"/>
              </a:rPr>
              <a:t>Block diagram showing inputs, processing, outputs and data flow</a:t>
            </a:r>
            <a:endParaRPr lang="en-IN" sz="900">
              <a:solidFill>
                <a:srgbClr val="7EC8E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C6C6EB-C7E0-8E69-D11E-C4FA4953A8B3}"/>
              </a:ext>
            </a:extLst>
          </p:cNvPr>
          <p:cNvSpPr/>
          <p:nvPr/>
        </p:nvSpPr>
        <p:spPr>
          <a:xfrm>
            <a:off x="101600" y="990600"/>
            <a:ext cx="5842000" cy="53975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CCFAA-B0E5-50C4-F133-72A583194A4A}"/>
              </a:ext>
            </a:extLst>
          </p:cNvPr>
          <p:cNvSpPr txBox="1"/>
          <p:nvPr/>
        </p:nvSpPr>
        <p:spPr>
          <a:xfrm>
            <a:off x="177800" y="1066800"/>
            <a:ext cx="5715000" cy="24468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POWER SUPPLY (USB 5V)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       |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[Raspberry Pi Pico W]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RP2040 + CYW43439 Wi-Fi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       |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ADC26 &lt;-- LDR Sensor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GPIO2  --&gt; Laser Module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GPIO4  --&gt; Blue LEDs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GPIO5  --&gt; Red LEDs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GPIO6  --&gt; Buzzer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       |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  Wi-Fi 2.4 GHz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       |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[Internet / Cloud]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    |           |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[Blynk Cloud] [Gmail SMTP]</a:t>
            </a:r>
          </a:p>
          <a:p>
            <a:r>
              <a:rPr lang="en-IN" sz="900">
                <a:solidFill>
                  <a:srgbClr val="7EC8E3"/>
                </a:solidFill>
                <a:latin typeface="Courier New" panose="02070309020205020404" pitchFamily="49" charset="0"/>
              </a:rPr>
              <a:t>[Dashboard  ] [Alert Email]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23C8F8-B581-9023-CE6A-728BC40B481E}"/>
              </a:ext>
            </a:extLst>
          </p:cNvPr>
          <p:cNvSpPr/>
          <p:nvPr/>
        </p:nvSpPr>
        <p:spPr>
          <a:xfrm>
            <a:off x="6045200" y="1016000"/>
            <a:ext cx="6070600" cy="12192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E125DB-1B47-29A6-7C5D-A2B6CF015FA2}"/>
              </a:ext>
            </a:extLst>
          </p:cNvPr>
          <p:cNvSpPr/>
          <p:nvPr/>
        </p:nvSpPr>
        <p:spPr>
          <a:xfrm>
            <a:off x="6045200" y="1016000"/>
            <a:ext cx="50800" cy="12192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BEA36-D5C2-1C4E-AC9F-3557378C2286}"/>
              </a:ext>
            </a:extLst>
          </p:cNvPr>
          <p:cNvSpPr txBox="1"/>
          <p:nvPr/>
        </p:nvSpPr>
        <p:spPr>
          <a:xfrm>
            <a:off x="6146800" y="1079500"/>
            <a:ext cx="586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7EC8E3"/>
                </a:solidFill>
                <a:latin typeface="Segoe UI" panose="020B0502040204020203" pitchFamily="34" charset="0"/>
              </a:rPr>
              <a:t>  INPUTS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F7D845-E666-48CE-8241-017E83194ED8}"/>
              </a:ext>
            </a:extLst>
          </p:cNvPr>
          <p:cNvSpPr txBox="1"/>
          <p:nvPr/>
        </p:nvSpPr>
        <p:spPr>
          <a:xfrm>
            <a:off x="6146800" y="1371600"/>
            <a:ext cx="586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LDR Sensor — ADC detects laser presence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Laser Module — focused beam source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2F636B-592D-CB41-7776-103971A4E2FF}"/>
              </a:ext>
            </a:extLst>
          </p:cNvPr>
          <p:cNvSpPr/>
          <p:nvPr/>
        </p:nvSpPr>
        <p:spPr>
          <a:xfrm>
            <a:off x="6045200" y="2311400"/>
            <a:ext cx="6070600" cy="13462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F53A8B-738A-5F08-D3AD-14F7F8653254}"/>
              </a:ext>
            </a:extLst>
          </p:cNvPr>
          <p:cNvSpPr/>
          <p:nvPr/>
        </p:nvSpPr>
        <p:spPr>
          <a:xfrm>
            <a:off x="6045200" y="2311400"/>
            <a:ext cx="50800" cy="13462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53F3C5-1CD0-C96D-E06E-CD1A45AE8157}"/>
              </a:ext>
            </a:extLst>
          </p:cNvPr>
          <p:cNvSpPr txBox="1"/>
          <p:nvPr/>
        </p:nvSpPr>
        <p:spPr>
          <a:xfrm>
            <a:off x="6146800" y="2374900"/>
            <a:ext cx="586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  PROCESSING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B46391-98CA-0CD7-BB86-BFFF643F1204}"/>
              </a:ext>
            </a:extLst>
          </p:cNvPr>
          <p:cNvSpPr txBox="1"/>
          <p:nvPr/>
        </p:nvSpPr>
        <p:spPr>
          <a:xfrm>
            <a:off x="6146800" y="2667000"/>
            <a:ext cx="586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Pico W polls LDR every 100ms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Threshold comparison in firmware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Alarm logic + cloud triggers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F22E5-4D81-33F8-6891-495B41FD2729}"/>
              </a:ext>
            </a:extLst>
          </p:cNvPr>
          <p:cNvSpPr/>
          <p:nvPr/>
        </p:nvSpPr>
        <p:spPr>
          <a:xfrm>
            <a:off x="6045200" y="3733800"/>
            <a:ext cx="6070600" cy="13462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548325-0ACB-14E7-7413-95596CED77AF}"/>
              </a:ext>
            </a:extLst>
          </p:cNvPr>
          <p:cNvSpPr/>
          <p:nvPr/>
        </p:nvSpPr>
        <p:spPr>
          <a:xfrm>
            <a:off x="6045200" y="3733800"/>
            <a:ext cx="50800" cy="1346200"/>
          </a:xfrm>
          <a:prstGeom prst="rect">
            <a:avLst/>
          </a:prstGeom>
          <a:solidFill>
            <a:srgbClr val="80E8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4B798A-A1ED-BC24-775F-DB95500A55B3}"/>
              </a:ext>
            </a:extLst>
          </p:cNvPr>
          <p:cNvSpPr txBox="1"/>
          <p:nvPr/>
        </p:nvSpPr>
        <p:spPr>
          <a:xfrm>
            <a:off x="6146800" y="3797300"/>
            <a:ext cx="586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80E880"/>
                </a:solidFill>
                <a:latin typeface="Segoe UI" panose="020B0502040204020203" pitchFamily="34" charset="0"/>
              </a:rPr>
              <a:t>  LOCAL OUTPUTS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879E1-83E7-A8F8-FF9B-C8BD998D1741}"/>
              </a:ext>
            </a:extLst>
          </p:cNvPr>
          <p:cNvSpPr txBox="1"/>
          <p:nvPr/>
        </p:nvSpPr>
        <p:spPr>
          <a:xfrm>
            <a:off x="6146800" y="4089400"/>
            <a:ext cx="586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Buzzer — 85dB audible alarm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Red LEDs — flashing on intrusion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Blue LEDs — standby indicator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0E94D-56C2-6CB0-39E4-FE4D0CB72757}"/>
              </a:ext>
            </a:extLst>
          </p:cNvPr>
          <p:cNvSpPr/>
          <p:nvPr/>
        </p:nvSpPr>
        <p:spPr>
          <a:xfrm>
            <a:off x="6045200" y="5156200"/>
            <a:ext cx="6070600" cy="13462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725563-BD0D-4B24-E2B7-F44FA29AB022}"/>
              </a:ext>
            </a:extLst>
          </p:cNvPr>
          <p:cNvSpPr/>
          <p:nvPr/>
        </p:nvSpPr>
        <p:spPr>
          <a:xfrm>
            <a:off x="6045200" y="5156200"/>
            <a:ext cx="50800" cy="1346200"/>
          </a:xfrm>
          <a:prstGeom prst="rect">
            <a:avLst/>
          </a:prstGeom>
          <a:solidFill>
            <a:srgbClr val="FF7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82D01B-39AF-5750-BBA6-705FB7D8AA28}"/>
              </a:ext>
            </a:extLst>
          </p:cNvPr>
          <p:cNvSpPr txBox="1"/>
          <p:nvPr/>
        </p:nvSpPr>
        <p:spPr>
          <a:xfrm>
            <a:off x="6146800" y="5219700"/>
            <a:ext cx="586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7070"/>
                </a:solidFill>
                <a:latin typeface="Segoe UI" panose="020B0502040204020203" pitchFamily="34" charset="0"/>
              </a:rPr>
              <a:t>  CLOUD OUTPUTS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A56F9C-6269-4254-8027-5A953187FFE5}"/>
              </a:ext>
            </a:extLst>
          </p:cNvPr>
          <p:cNvSpPr txBox="1"/>
          <p:nvPr/>
        </p:nvSpPr>
        <p:spPr>
          <a:xfrm>
            <a:off x="6146800" y="5511800"/>
            <a:ext cx="5867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Blynk: live LDR graph + alarm flag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Blynk: push notification to phone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Gmail: intrusion alert email (SSL)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C3B7FE-FD8D-1993-C702-8A5866A0BAC9}"/>
              </a:ext>
            </a:extLst>
          </p:cNvPr>
          <p:cNvSpPr/>
          <p:nvPr/>
        </p:nvSpPr>
        <p:spPr>
          <a:xfrm>
            <a:off x="0" y="6527800"/>
            <a:ext cx="12192000" cy="3302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8E01DF-C664-D2A0-72BF-3CAE6B5B9CB8}"/>
              </a:ext>
            </a:extLst>
          </p:cNvPr>
          <p:cNvSpPr txBox="1"/>
          <p:nvPr/>
        </p:nvSpPr>
        <p:spPr>
          <a:xfrm>
            <a:off x="101600" y="6553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CSCE 5612  |  Embedded Hardware/Software Design  |  Spring 2026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FA8B5E-D142-C3F1-756D-25CA11F157D5}"/>
              </a:ext>
            </a:extLst>
          </p:cNvPr>
          <p:cNvSpPr txBox="1"/>
          <p:nvPr/>
        </p:nvSpPr>
        <p:spPr>
          <a:xfrm>
            <a:off x="11176000" y="65532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36094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1A6E20-AC59-9721-E60C-30BBC63034D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D3271-7CA6-6FD5-28C8-32FDD68F76D8}"/>
              </a:ext>
            </a:extLst>
          </p:cNvPr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33C4E-776C-3B9E-6A35-990120E2C819}"/>
              </a:ext>
            </a:extLst>
          </p:cNvPr>
          <p:cNvSpPr txBox="1"/>
          <p:nvPr/>
        </p:nvSpPr>
        <p:spPr>
          <a:xfrm>
            <a:off x="101600" y="635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Hardware Component 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109B3-BFE5-3EF4-D811-1D812493B9C4}"/>
              </a:ext>
            </a:extLst>
          </p:cNvPr>
          <p:cNvSpPr txBox="1"/>
          <p:nvPr/>
        </p:nvSpPr>
        <p:spPr>
          <a:xfrm>
            <a:off x="1016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EC8E3"/>
                </a:solidFill>
                <a:latin typeface="Segoe UI" panose="020B0502040204020203" pitchFamily="34" charset="0"/>
              </a:rPr>
              <a:t>All components with specifications, justification, and vendor URLs</a:t>
            </a:r>
            <a:endParaRPr lang="en-IN" sz="900">
              <a:solidFill>
                <a:srgbClr val="7EC8E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75E2F3-68B1-3131-83F7-3D16385C0A4A}"/>
              </a:ext>
            </a:extLst>
          </p:cNvPr>
          <p:cNvSpPr/>
          <p:nvPr/>
        </p:nvSpPr>
        <p:spPr>
          <a:xfrm>
            <a:off x="101600" y="1016000"/>
            <a:ext cx="3860800" cy="23114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33A835-571D-9D67-96C1-5047BC8362F9}"/>
              </a:ext>
            </a:extLst>
          </p:cNvPr>
          <p:cNvSpPr/>
          <p:nvPr/>
        </p:nvSpPr>
        <p:spPr>
          <a:xfrm>
            <a:off x="101600" y="1016000"/>
            <a:ext cx="50800" cy="23114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FEE7F1-A907-215E-B39E-DC37A0C1A67E}"/>
              </a:ext>
            </a:extLst>
          </p:cNvPr>
          <p:cNvSpPr txBox="1"/>
          <p:nvPr/>
        </p:nvSpPr>
        <p:spPr>
          <a:xfrm>
            <a:off x="203200" y="10795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7EC8E3"/>
                </a:solidFill>
                <a:latin typeface="Segoe UI" panose="020B0502040204020203" pitchFamily="34" charset="0"/>
              </a:rPr>
              <a:t>  Raspberry Pi Pico 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E54475-FB63-DFF8-E904-AAC86E030751}"/>
              </a:ext>
            </a:extLst>
          </p:cNvPr>
          <p:cNvSpPr txBox="1"/>
          <p:nvPr/>
        </p:nvSpPr>
        <p:spPr>
          <a:xfrm>
            <a:off x="203200" y="13716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RP2040 dual-core ARM Cortex-M0+ @ 133MHz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Wi-Fi 802.11 b/g/n via CYW43439 chip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3x 12-bit ADC | 26 GPIO | 3.3V I/O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Chosen: onboard Wi-Fi for Blynk + Gmail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adafruit.com/product/5526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853743-48E3-35F5-6AE6-37957E3D3EF3}"/>
              </a:ext>
            </a:extLst>
          </p:cNvPr>
          <p:cNvSpPr/>
          <p:nvPr/>
        </p:nvSpPr>
        <p:spPr>
          <a:xfrm>
            <a:off x="4064000" y="1016000"/>
            <a:ext cx="3860800" cy="23114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D3B9B2-74BE-CB78-CC26-8A1DE71FBF76}"/>
              </a:ext>
            </a:extLst>
          </p:cNvPr>
          <p:cNvSpPr/>
          <p:nvPr/>
        </p:nvSpPr>
        <p:spPr>
          <a:xfrm>
            <a:off x="4064000" y="1016000"/>
            <a:ext cx="50800" cy="2311400"/>
          </a:xfrm>
          <a:prstGeom prst="rect">
            <a:avLst/>
          </a:prstGeom>
          <a:solidFill>
            <a:srgbClr val="FF7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CC7CA8-7497-00AD-E8B8-A4DF0E565A38}"/>
              </a:ext>
            </a:extLst>
          </p:cNvPr>
          <p:cNvSpPr txBox="1"/>
          <p:nvPr/>
        </p:nvSpPr>
        <p:spPr>
          <a:xfrm>
            <a:off x="4165600" y="10795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7070"/>
                </a:solidFill>
                <a:latin typeface="Segoe UI" panose="020B0502040204020203" pitchFamily="34" charset="0"/>
              </a:rPr>
              <a:t>  KY-008 Laser 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6E4D88-162C-7623-398E-7663856A260B}"/>
              </a:ext>
            </a:extLst>
          </p:cNvPr>
          <p:cNvSpPr txBox="1"/>
          <p:nvPr/>
        </p:nvSpPr>
        <p:spPr>
          <a:xfrm>
            <a:off x="4165600" y="13716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650nm red laser, &lt;5mW (Class IIIA)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5V DC, ~30mA current draw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Digital ON/OFF GPIO control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Chosen: focused beam, easy alignment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amazon.com/dp/B01MAWT5JX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533994-9818-0C53-9ADF-D5376908847A}"/>
              </a:ext>
            </a:extLst>
          </p:cNvPr>
          <p:cNvSpPr/>
          <p:nvPr/>
        </p:nvSpPr>
        <p:spPr>
          <a:xfrm>
            <a:off x="8026400" y="1016000"/>
            <a:ext cx="3860800" cy="23114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40785F-C638-1720-877E-619BFF52700F}"/>
              </a:ext>
            </a:extLst>
          </p:cNvPr>
          <p:cNvSpPr/>
          <p:nvPr/>
        </p:nvSpPr>
        <p:spPr>
          <a:xfrm>
            <a:off x="8026400" y="1016000"/>
            <a:ext cx="50800" cy="23114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EF8627-6B18-3D03-5BB6-EE76DCC9D42E}"/>
              </a:ext>
            </a:extLst>
          </p:cNvPr>
          <p:cNvSpPr txBox="1"/>
          <p:nvPr/>
        </p:nvSpPr>
        <p:spPr>
          <a:xfrm>
            <a:off x="8128000" y="10795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  LDR Sensor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0F9BBD-94FE-B423-B854-543B3E6CBFEA}"/>
              </a:ext>
            </a:extLst>
          </p:cNvPr>
          <p:cNvSpPr txBox="1"/>
          <p:nvPr/>
        </p:nvSpPr>
        <p:spPr>
          <a:xfrm>
            <a:off x="8128000" y="13716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Resistance: 1kOhm (light) to 1MOhm (dark)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3.3V-5V compatible | ~20ms response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Direct ADC readout — no extra IC needed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Chosen: simple, reliable beam-break detect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adafruit.com/product/161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B59015-8E62-3C2E-3E5D-9E25EF4CFB13}"/>
              </a:ext>
            </a:extLst>
          </p:cNvPr>
          <p:cNvSpPr/>
          <p:nvPr/>
        </p:nvSpPr>
        <p:spPr>
          <a:xfrm>
            <a:off x="101600" y="3429000"/>
            <a:ext cx="3860800" cy="23114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AF336A-4B1F-0551-62CF-EA640AAD2B2C}"/>
              </a:ext>
            </a:extLst>
          </p:cNvPr>
          <p:cNvSpPr/>
          <p:nvPr/>
        </p:nvSpPr>
        <p:spPr>
          <a:xfrm>
            <a:off x="101600" y="3429000"/>
            <a:ext cx="50800" cy="2311400"/>
          </a:xfrm>
          <a:prstGeom prst="rect">
            <a:avLst/>
          </a:prstGeom>
          <a:solidFill>
            <a:srgbClr val="80E8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A7C283-CA4F-DD01-85D9-2C13B26AC5FA}"/>
              </a:ext>
            </a:extLst>
          </p:cNvPr>
          <p:cNvSpPr txBox="1"/>
          <p:nvPr/>
        </p:nvSpPr>
        <p:spPr>
          <a:xfrm>
            <a:off x="203200" y="34925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80E880"/>
                </a:solidFill>
                <a:latin typeface="Segoe UI" panose="020B0502040204020203" pitchFamily="34" charset="0"/>
              </a:rPr>
              <a:t>  5V Active Buzzer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5B0339-5C00-A2A7-369A-766C5B60F2C7}"/>
              </a:ext>
            </a:extLst>
          </p:cNvPr>
          <p:cNvSpPr txBox="1"/>
          <p:nvPr/>
        </p:nvSpPr>
        <p:spPr>
          <a:xfrm>
            <a:off x="203200" y="37846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85 dB audible alarm output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5V DC, ~35mA via D400 transistor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Simple HIGH/LOW control — no PWM needed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Chosen: instant alarm, minimal firmware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amazon.com/dp/B0716GH3QD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03FC4F-5A53-6CFF-0552-681ED7626F44}"/>
              </a:ext>
            </a:extLst>
          </p:cNvPr>
          <p:cNvSpPr/>
          <p:nvPr/>
        </p:nvSpPr>
        <p:spPr>
          <a:xfrm>
            <a:off x="4064000" y="3429000"/>
            <a:ext cx="3860800" cy="23114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B70BF0-4D4A-797A-2BA8-112869646746}"/>
              </a:ext>
            </a:extLst>
          </p:cNvPr>
          <p:cNvSpPr/>
          <p:nvPr/>
        </p:nvSpPr>
        <p:spPr>
          <a:xfrm>
            <a:off x="4064000" y="3429000"/>
            <a:ext cx="50800" cy="23114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F49476-7BCD-F91C-0F62-82E9624ABB87}"/>
              </a:ext>
            </a:extLst>
          </p:cNvPr>
          <p:cNvSpPr txBox="1"/>
          <p:nvPr/>
        </p:nvSpPr>
        <p:spPr>
          <a:xfrm>
            <a:off x="4165600" y="34925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7EC8E3"/>
                </a:solidFill>
                <a:latin typeface="Segoe UI" panose="020B0502040204020203" pitchFamily="34" charset="0"/>
              </a:rPr>
              <a:t>  LEDs + Transistors + Resistors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BE018B-CF61-1E98-3B71-E6D38079AA33}"/>
              </a:ext>
            </a:extLst>
          </p:cNvPr>
          <p:cNvSpPr txBox="1"/>
          <p:nvPr/>
        </p:nvSpPr>
        <p:spPr>
          <a:xfrm>
            <a:off x="4165600" y="37846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4x Red + 4x Blue 5mm LEDs (10-20mA each)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D400 NPN transistors switch LED + buzzer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180Ohm LED | 1kOhm base | 10kOhm LDR divider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Transistors protect Pico W 12mA GPIO limit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amazon.com/dp/B01AUI4VQU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45323F-B581-4847-8619-7372110B1B8A}"/>
              </a:ext>
            </a:extLst>
          </p:cNvPr>
          <p:cNvSpPr/>
          <p:nvPr/>
        </p:nvSpPr>
        <p:spPr>
          <a:xfrm>
            <a:off x="8026400" y="3429000"/>
            <a:ext cx="3860800" cy="23114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0B5AD4-9196-82E6-BA44-1FE4BCD5506D}"/>
              </a:ext>
            </a:extLst>
          </p:cNvPr>
          <p:cNvSpPr/>
          <p:nvPr/>
        </p:nvSpPr>
        <p:spPr>
          <a:xfrm>
            <a:off x="8026400" y="3429000"/>
            <a:ext cx="50800" cy="23114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321203-7305-C8BC-86F2-5C4C14BEB294}"/>
              </a:ext>
            </a:extLst>
          </p:cNvPr>
          <p:cNvSpPr txBox="1"/>
          <p:nvPr/>
        </p:nvSpPr>
        <p:spPr>
          <a:xfrm>
            <a:off x="8128000" y="34925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  Custom PCB (JLCPCB)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805C01-EA12-777C-9DA6-3557D7D21E63}"/>
              </a:ext>
            </a:extLst>
          </p:cNvPr>
          <p:cNvSpPr txBox="1"/>
          <p:nvPr/>
        </p:nvSpPr>
        <p:spPr>
          <a:xfrm>
            <a:off x="8128000" y="378460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Gate-shaped custom PCB design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Eliminates breadboard wiring errors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Fixed mounting for laser + LDR alignment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LDR on adjustable female header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jlcpcb.com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B4CCB5-6DDB-EC12-3133-0F0C65C295E6}"/>
              </a:ext>
            </a:extLst>
          </p:cNvPr>
          <p:cNvSpPr/>
          <p:nvPr/>
        </p:nvSpPr>
        <p:spPr>
          <a:xfrm>
            <a:off x="0" y="6527800"/>
            <a:ext cx="12192000" cy="3302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0D7A85-59DB-173E-5B69-B744A167950D}"/>
              </a:ext>
            </a:extLst>
          </p:cNvPr>
          <p:cNvSpPr txBox="1"/>
          <p:nvPr/>
        </p:nvSpPr>
        <p:spPr>
          <a:xfrm>
            <a:off x="101600" y="6553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CSCE 5612  |  Embedded Hardware/Software Design  |  Spring 2026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95181E-2152-DD0C-6CFD-3554E72B1872}"/>
              </a:ext>
            </a:extLst>
          </p:cNvPr>
          <p:cNvSpPr txBox="1"/>
          <p:nvPr/>
        </p:nvSpPr>
        <p:spPr>
          <a:xfrm>
            <a:off x="11176000" y="65532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2906310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A778D9-D81D-F7C4-FD62-CC4B4AD1DA3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3FBBAF-3DF1-9465-D642-E9710B065D5E}"/>
              </a:ext>
            </a:extLst>
          </p:cNvPr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DA5CF-8007-3210-DC32-71D2AB83843D}"/>
              </a:ext>
            </a:extLst>
          </p:cNvPr>
          <p:cNvSpPr txBox="1"/>
          <p:nvPr/>
        </p:nvSpPr>
        <p:spPr>
          <a:xfrm>
            <a:off x="101600" y="635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Segoe UI" panose="020B0502040204020203" pitchFamily="34" charset="0"/>
              </a:rPr>
              <a:t>IoT Features: Blynk Cloud + Gmail Alerts</a:t>
            </a:r>
            <a:endParaRPr lang="en-IN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449E1-8765-2BEC-1407-360E8115C761}"/>
              </a:ext>
            </a:extLst>
          </p:cNvPr>
          <p:cNvSpPr txBox="1"/>
          <p:nvPr/>
        </p:nvSpPr>
        <p:spPr>
          <a:xfrm>
            <a:off x="1016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EC8E3"/>
                </a:solidFill>
                <a:latin typeface="Segoe UI" panose="020B0502040204020203" pitchFamily="34" charset="0"/>
              </a:rPr>
              <a:t>Real-time monitoring and automated email notification on intrusion</a:t>
            </a:r>
            <a:endParaRPr lang="en-IN" sz="900">
              <a:solidFill>
                <a:srgbClr val="7EC8E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94D08-7C7E-9492-70B5-4D9C3312416D}"/>
              </a:ext>
            </a:extLst>
          </p:cNvPr>
          <p:cNvSpPr/>
          <p:nvPr/>
        </p:nvSpPr>
        <p:spPr>
          <a:xfrm>
            <a:off x="101600" y="990600"/>
            <a:ext cx="5842000" cy="23114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C0E4D-0283-DF40-2069-23EEB67778B4}"/>
              </a:ext>
            </a:extLst>
          </p:cNvPr>
          <p:cNvSpPr/>
          <p:nvPr/>
        </p:nvSpPr>
        <p:spPr>
          <a:xfrm>
            <a:off x="101600" y="990600"/>
            <a:ext cx="50800" cy="2311400"/>
          </a:xfrm>
          <a:prstGeom prst="rect">
            <a:avLst/>
          </a:prstGeom>
          <a:solidFill>
            <a:srgbClr val="80E8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418413-075B-D45C-457F-6C6FCE9E1A7A}"/>
              </a:ext>
            </a:extLst>
          </p:cNvPr>
          <p:cNvSpPr txBox="1"/>
          <p:nvPr/>
        </p:nvSpPr>
        <p:spPr>
          <a:xfrm>
            <a:off x="203200" y="1054100"/>
            <a:ext cx="563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80E880"/>
                </a:solidFill>
                <a:latin typeface="Segoe UI" panose="020B0502040204020203" pitchFamily="34" charset="0"/>
              </a:rPr>
              <a:t>  Blynk Cloud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6F5B-EDE7-4558-1119-96E84319EFB5}"/>
              </a:ext>
            </a:extLst>
          </p:cNvPr>
          <p:cNvSpPr txBox="1"/>
          <p:nvPr/>
        </p:nvSpPr>
        <p:spPr>
          <a:xfrm>
            <a:off x="203200" y="1346200"/>
            <a:ext cx="563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Persistent TCP socket maintained at startup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V0 Pin: LDR ADC value sent every 2s -&gt; live graph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V1 Pin: Alarm flag (0=normal, 1=intruder)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Push notification sent instantly to owner's phone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Blynk auto-logs readings with timestamps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4A1309-0970-E2E1-2101-E76EC06F363C}"/>
              </a:ext>
            </a:extLst>
          </p:cNvPr>
          <p:cNvSpPr/>
          <p:nvPr/>
        </p:nvSpPr>
        <p:spPr>
          <a:xfrm>
            <a:off x="101600" y="3429000"/>
            <a:ext cx="5842000" cy="23114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9F0699-65CD-E8CB-8D10-D4FEFC99598E}"/>
              </a:ext>
            </a:extLst>
          </p:cNvPr>
          <p:cNvSpPr/>
          <p:nvPr/>
        </p:nvSpPr>
        <p:spPr>
          <a:xfrm>
            <a:off x="101600" y="3429000"/>
            <a:ext cx="50800" cy="23114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E1944-BCAA-5874-649E-639EF59A4EFC}"/>
              </a:ext>
            </a:extLst>
          </p:cNvPr>
          <p:cNvSpPr txBox="1"/>
          <p:nvPr/>
        </p:nvSpPr>
        <p:spPr>
          <a:xfrm>
            <a:off x="203200" y="3492500"/>
            <a:ext cx="563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  Gmail SMTP Alert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83348B-CEF5-F3B2-2026-0857C9E8E1A7}"/>
              </a:ext>
            </a:extLst>
          </p:cNvPr>
          <p:cNvSpPr txBox="1"/>
          <p:nvPr/>
        </p:nvSpPr>
        <p:spPr>
          <a:xfrm>
            <a:off x="203200" y="3784600"/>
            <a:ext cx="563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SSL connection to smtp.gmail.com port 465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Google App Password (2FA) — secure credentials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Email: timestamp + Intruder Detected + LDR value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30-second cooldown prevents email flooding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Sent async — local buzzer/LED triggers first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46722E-2B0D-EE0C-468F-912DBD611E80}"/>
              </a:ext>
            </a:extLst>
          </p:cNvPr>
          <p:cNvSpPr txBox="1"/>
          <p:nvPr/>
        </p:nvSpPr>
        <p:spPr>
          <a:xfrm>
            <a:off x="6096000" y="1016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7EC8E3"/>
                </a:solidFill>
                <a:latin typeface="Segoe UI" panose="020B0502040204020203" pitchFamily="34" charset="0"/>
              </a:rPr>
              <a:t>Alarm Event Data 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31142F-17BB-04CE-D819-B18BF187B05E}"/>
              </a:ext>
            </a:extLst>
          </p:cNvPr>
          <p:cNvSpPr/>
          <p:nvPr/>
        </p:nvSpPr>
        <p:spPr>
          <a:xfrm>
            <a:off x="6070600" y="1397000"/>
            <a:ext cx="5994400" cy="711200"/>
          </a:xfrm>
          <a:prstGeom prst="rect">
            <a:avLst/>
          </a:prstGeom>
          <a:solidFill>
            <a:srgbClr val="1A324A"/>
          </a:solidFill>
          <a:ln w="12700">
            <a:solidFill>
              <a:srgbClr val="B0C4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97F9B0-CD73-0731-59AF-1CCE104D7A4A}"/>
              </a:ext>
            </a:extLst>
          </p:cNvPr>
          <p:cNvSpPr txBox="1"/>
          <p:nvPr/>
        </p:nvSpPr>
        <p:spPr>
          <a:xfrm>
            <a:off x="6172200" y="1447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 b="1">
                <a:solidFill>
                  <a:srgbClr val="B0C4D8"/>
                </a:solidFill>
                <a:latin typeface="Segoe UI" panose="020B0502040204020203" pitchFamily="34" charset="0"/>
              </a:rPr>
              <a:t>BEAM BROKEN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0EE25B-5C25-874D-BB3E-CC8F2F775D54}"/>
              </a:ext>
            </a:extLst>
          </p:cNvPr>
          <p:cNvSpPr txBox="1"/>
          <p:nvPr/>
        </p:nvSpPr>
        <p:spPr>
          <a:xfrm>
            <a:off x="6172200" y="1752600"/>
            <a:ext cx="579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LDR ADC &gt; Threshold (3 reads / 300ms)</a:t>
            </a:r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8E5AA5-CDBF-98BB-1B10-7CF017862B74}"/>
              </a:ext>
            </a:extLst>
          </p:cNvPr>
          <p:cNvSpPr txBox="1"/>
          <p:nvPr/>
        </p:nvSpPr>
        <p:spPr>
          <a:xfrm>
            <a:off x="9017000" y="2133600"/>
            <a:ext cx="38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000" b="1">
                <a:solidFill>
                  <a:srgbClr val="7EC8E3"/>
                </a:solidFill>
                <a:latin typeface="Segoe UI" panose="020B0502040204020203" pitchFamily="34" charset="0"/>
              </a:rPr>
              <a:t>v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B30D5D-F5A0-1A15-968C-5E6936242238}"/>
              </a:ext>
            </a:extLst>
          </p:cNvPr>
          <p:cNvSpPr/>
          <p:nvPr/>
        </p:nvSpPr>
        <p:spPr>
          <a:xfrm>
            <a:off x="6070600" y="2336800"/>
            <a:ext cx="5994400" cy="711200"/>
          </a:xfrm>
          <a:prstGeom prst="rect">
            <a:avLst/>
          </a:prstGeom>
          <a:solidFill>
            <a:srgbClr val="1A324A"/>
          </a:solidFill>
          <a:ln w="12700">
            <a:solidFill>
              <a:srgbClr val="FF7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B8781C-4E64-EB5C-01E6-CC0DDAEB0F61}"/>
              </a:ext>
            </a:extLst>
          </p:cNvPr>
          <p:cNvSpPr txBox="1"/>
          <p:nvPr/>
        </p:nvSpPr>
        <p:spPr>
          <a:xfrm>
            <a:off x="6172200" y="2387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 b="1">
                <a:solidFill>
                  <a:srgbClr val="FF7070"/>
                </a:solidFill>
                <a:latin typeface="Segoe UI" panose="020B0502040204020203" pitchFamily="34" charset="0"/>
              </a:rPr>
              <a:t>INSTANT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ED853F-2F3F-D664-83C8-6B4FC645014F}"/>
              </a:ext>
            </a:extLst>
          </p:cNvPr>
          <p:cNvSpPr txBox="1"/>
          <p:nvPr/>
        </p:nvSpPr>
        <p:spPr>
          <a:xfrm>
            <a:off x="6172200" y="2692400"/>
            <a:ext cx="579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Buzzer ON  +  Red LEDs Flash (local)</a:t>
            </a:r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C2341E-A188-E4CF-1FA2-22D46CE3BA5C}"/>
              </a:ext>
            </a:extLst>
          </p:cNvPr>
          <p:cNvSpPr txBox="1"/>
          <p:nvPr/>
        </p:nvSpPr>
        <p:spPr>
          <a:xfrm>
            <a:off x="9017000" y="3073400"/>
            <a:ext cx="38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000" b="1">
                <a:solidFill>
                  <a:srgbClr val="7EC8E3"/>
                </a:solidFill>
                <a:latin typeface="Segoe UI" panose="020B0502040204020203" pitchFamily="34" charset="0"/>
              </a:rPr>
              <a:t>v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7E1D89-CEBA-F1AE-A3E5-8F11B5EBD4D8}"/>
              </a:ext>
            </a:extLst>
          </p:cNvPr>
          <p:cNvSpPr/>
          <p:nvPr/>
        </p:nvSpPr>
        <p:spPr>
          <a:xfrm>
            <a:off x="6070600" y="3276600"/>
            <a:ext cx="5994400" cy="711200"/>
          </a:xfrm>
          <a:prstGeom prst="rect">
            <a:avLst/>
          </a:prstGeom>
          <a:solidFill>
            <a:srgbClr val="1A324A"/>
          </a:solidFill>
          <a:ln w="12700">
            <a:solidFill>
              <a:srgbClr val="80E8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8D63E5-2022-19FD-1DBA-EC36A490AD41}"/>
              </a:ext>
            </a:extLst>
          </p:cNvPr>
          <p:cNvSpPr txBox="1"/>
          <p:nvPr/>
        </p:nvSpPr>
        <p:spPr>
          <a:xfrm>
            <a:off x="6172200" y="3327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 b="1">
                <a:solidFill>
                  <a:srgbClr val="80E880"/>
                </a:solidFill>
                <a:latin typeface="Segoe UI" panose="020B0502040204020203" pitchFamily="34" charset="0"/>
              </a:rPr>
              <a:t>BLYNK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DC5004-1BF4-157E-48A1-379DC7DFBE15}"/>
              </a:ext>
            </a:extLst>
          </p:cNvPr>
          <p:cNvSpPr txBox="1"/>
          <p:nvPr/>
        </p:nvSpPr>
        <p:spPr>
          <a:xfrm>
            <a:off x="6172200" y="3632200"/>
            <a:ext cx="579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V1=1 sent + Push Notification to phone</a:t>
            </a:r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3BF7AD-1557-7C76-FFD4-AEF37E07BE64}"/>
              </a:ext>
            </a:extLst>
          </p:cNvPr>
          <p:cNvSpPr txBox="1"/>
          <p:nvPr/>
        </p:nvSpPr>
        <p:spPr>
          <a:xfrm>
            <a:off x="9017000" y="4013200"/>
            <a:ext cx="38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000" b="1">
                <a:solidFill>
                  <a:srgbClr val="7EC8E3"/>
                </a:solidFill>
                <a:latin typeface="Segoe UI" panose="020B0502040204020203" pitchFamily="34" charset="0"/>
              </a:rPr>
              <a:t>v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760DC1-49E5-8BD7-0DFF-B3237A32D71F}"/>
              </a:ext>
            </a:extLst>
          </p:cNvPr>
          <p:cNvSpPr/>
          <p:nvPr/>
        </p:nvSpPr>
        <p:spPr>
          <a:xfrm>
            <a:off x="6070600" y="4216400"/>
            <a:ext cx="5994400" cy="711200"/>
          </a:xfrm>
          <a:prstGeom prst="rect">
            <a:avLst/>
          </a:prstGeom>
          <a:solidFill>
            <a:srgbClr val="1A324A"/>
          </a:solidFill>
          <a:ln w="12700">
            <a:solidFill>
              <a:srgbClr val="FFC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7B1DE2-9746-A736-2EC8-7064296FA0F9}"/>
              </a:ext>
            </a:extLst>
          </p:cNvPr>
          <p:cNvSpPr txBox="1"/>
          <p:nvPr/>
        </p:nvSpPr>
        <p:spPr>
          <a:xfrm>
            <a:off x="6172200" y="4267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 b="1">
                <a:solidFill>
                  <a:srgbClr val="FFC870"/>
                </a:solidFill>
                <a:latin typeface="Segoe UI" panose="020B0502040204020203" pitchFamily="34" charset="0"/>
              </a:rPr>
              <a:t>GMAIL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4C94C7-518A-44A5-3475-013FD941DE4A}"/>
              </a:ext>
            </a:extLst>
          </p:cNvPr>
          <p:cNvSpPr txBox="1"/>
          <p:nvPr/>
        </p:nvSpPr>
        <p:spPr>
          <a:xfrm>
            <a:off x="6172200" y="4572000"/>
            <a:ext cx="579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SMTP SSL: Intrusion Alert Email sent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EB8560-848E-507E-D51A-B907FCC8FB73}"/>
              </a:ext>
            </a:extLst>
          </p:cNvPr>
          <p:cNvSpPr txBox="1"/>
          <p:nvPr/>
        </p:nvSpPr>
        <p:spPr>
          <a:xfrm>
            <a:off x="9017000" y="4953000"/>
            <a:ext cx="38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000" b="1">
                <a:solidFill>
                  <a:srgbClr val="7EC8E3"/>
                </a:solidFill>
                <a:latin typeface="Segoe UI" panose="020B0502040204020203" pitchFamily="34" charset="0"/>
              </a:rPr>
              <a:t>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AD3822-507A-AD8C-785C-E42E7F3C122E}"/>
              </a:ext>
            </a:extLst>
          </p:cNvPr>
          <p:cNvSpPr/>
          <p:nvPr/>
        </p:nvSpPr>
        <p:spPr>
          <a:xfrm>
            <a:off x="6070600" y="5156200"/>
            <a:ext cx="5994400" cy="711200"/>
          </a:xfrm>
          <a:prstGeom prst="rect">
            <a:avLst/>
          </a:prstGeom>
          <a:solidFill>
            <a:srgbClr val="1A324A"/>
          </a:solidFill>
          <a:ln w="12700">
            <a:solidFill>
              <a:srgbClr val="B0C4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9E5BFD-F2FF-65DA-C490-982087360503}"/>
              </a:ext>
            </a:extLst>
          </p:cNvPr>
          <p:cNvSpPr txBox="1"/>
          <p:nvPr/>
        </p:nvSpPr>
        <p:spPr>
          <a:xfrm>
            <a:off x="6172200" y="5207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 b="1">
                <a:solidFill>
                  <a:srgbClr val="B0C4D8"/>
                </a:solidFill>
                <a:latin typeface="Segoe UI" panose="020B0502040204020203" pitchFamily="34" charset="0"/>
              </a:rPr>
              <a:t>COOLDOWN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13558A-15E9-DE4E-0493-D0198964B8E6}"/>
              </a:ext>
            </a:extLst>
          </p:cNvPr>
          <p:cNvSpPr txBox="1"/>
          <p:nvPr/>
        </p:nvSpPr>
        <p:spPr>
          <a:xfrm>
            <a:off x="6172200" y="5511800"/>
            <a:ext cx="579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30s timer -&gt; alarm resets -&gt; normal mode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3F3E34-84E3-2163-BBDE-ECE6ABF2091E}"/>
              </a:ext>
            </a:extLst>
          </p:cNvPr>
          <p:cNvSpPr/>
          <p:nvPr/>
        </p:nvSpPr>
        <p:spPr>
          <a:xfrm>
            <a:off x="0" y="6527800"/>
            <a:ext cx="12192000" cy="3302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54E571-2CA8-A4CC-7105-4EC5BB42A411}"/>
              </a:ext>
            </a:extLst>
          </p:cNvPr>
          <p:cNvSpPr txBox="1"/>
          <p:nvPr/>
        </p:nvSpPr>
        <p:spPr>
          <a:xfrm>
            <a:off x="101600" y="6553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CSCE 5612  |  Embedded Hardware/Software Design  |  Spring 2026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C9C29-9B9A-ED3C-1634-90D181C79BBF}"/>
              </a:ext>
            </a:extLst>
          </p:cNvPr>
          <p:cNvSpPr txBox="1"/>
          <p:nvPr/>
        </p:nvSpPr>
        <p:spPr>
          <a:xfrm>
            <a:off x="11176000" y="65532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3189074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5D64BE-0B75-FF29-1547-230F6DA77B8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026BEE-C25A-A743-A1D4-367972A779EB}"/>
              </a:ext>
            </a:extLst>
          </p:cNvPr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B3FE3-53C7-4DFA-0F08-3AD47010EA59}"/>
              </a:ext>
            </a:extLst>
          </p:cNvPr>
          <p:cNvSpPr txBox="1"/>
          <p:nvPr/>
        </p:nvSpPr>
        <p:spPr>
          <a:xfrm>
            <a:off x="101600" y="635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Power Consumption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C5C76-5562-794B-05B6-DDCEDE989A19}"/>
              </a:ext>
            </a:extLst>
          </p:cNvPr>
          <p:cNvSpPr txBox="1"/>
          <p:nvPr/>
        </p:nvSpPr>
        <p:spPr>
          <a:xfrm>
            <a:off x="1016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EC8E3"/>
                </a:solidFill>
                <a:latin typeface="Segoe UI" panose="020B0502040204020203" pitchFamily="34" charset="0"/>
              </a:rPr>
              <a:t>Component power budget, source justification, and efficiency strategies</a:t>
            </a:r>
            <a:endParaRPr lang="en-IN" sz="900">
              <a:solidFill>
                <a:srgbClr val="7EC8E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7362D-2BAB-03D7-5839-8C7AFBBB620A}"/>
              </a:ext>
            </a:extLst>
          </p:cNvPr>
          <p:cNvSpPr/>
          <p:nvPr/>
        </p:nvSpPr>
        <p:spPr>
          <a:xfrm>
            <a:off x="101600" y="990600"/>
            <a:ext cx="5588000" cy="330200"/>
          </a:xfrm>
          <a:prstGeom prst="rect">
            <a:avLst/>
          </a:prstGeom>
          <a:solidFill>
            <a:srgbClr val="122A40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69C5B-E888-8608-76E8-E276DF7C93F6}"/>
              </a:ext>
            </a:extLst>
          </p:cNvPr>
          <p:cNvSpPr txBox="1"/>
          <p:nvPr/>
        </p:nvSpPr>
        <p:spPr>
          <a:xfrm>
            <a:off x="152400" y="1016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 b="1">
                <a:solidFill>
                  <a:srgbClr val="7EC8E3"/>
                </a:solidFill>
                <a:latin typeface="Segoe UI" panose="020B0502040204020203" pitchFamily="34" charset="0"/>
              </a:rPr>
              <a:t>Component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58BE9-C6A6-051E-D5EB-220CFAE05A64}"/>
              </a:ext>
            </a:extLst>
          </p:cNvPr>
          <p:cNvSpPr txBox="1"/>
          <p:nvPr/>
        </p:nvSpPr>
        <p:spPr>
          <a:xfrm>
            <a:off x="3200400" y="10160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 b="1">
                <a:solidFill>
                  <a:srgbClr val="7EC8E3"/>
                </a:solidFill>
                <a:latin typeface="Segoe UI" panose="020B0502040204020203" pitchFamily="34" charset="0"/>
              </a:rPr>
              <a:t>Current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C4AC4-84C8-5F7A-735A-FBA52F72F94C}"/>
              </a:ext>
            </a:extLst>
          </p:cNvPr>
          <p:cNvSpPr txBox="1"/>
          <p:nvPr/>
        </p:nvSpPr>
        <p:spPr>
          <a:xfrm>
            <a:off x="4267200" y="10160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 b="1">
                <a:solidFill>
                  <a:srgbClr val="7EC8E3"/>
                </a:solidFill>
                <a:latin typeface="Segoe UI" panose="020B0502040204020203" pitchFamily="34" charset="0"/>
              </a:rPr>
              <a:t>Power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56E20-D6E9-F626-061C-F5BDFEBE5354}"/>
              </a:ext>
            </a:extLst>
          </p:cNvPr>
          <p:cNvSpPr txBox="1"/>
          <p:nvPr/>
        </p:nvSpPr>
        <p:spPr>
          <a:xfrm>
            <a:off x="5334000" y="10160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 b="1">
                <a:solidFill>
                  <a:srgbClr val="7EC8E3"/>
                </a:solidFill>
                <a:latin typeface="Segoe UI" panose="020B0502040204020203" pitchFamily="34" charset="0"/>
              </a:rPr>
              <a:t>Bar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14A86-1248-78D6-61C4-1A423059C87A}"/>
              </a:ext>
            </a:extLst>
          </p:cNvPr>
          <p:cNvSpPr/>
          <p:nvPr/>
        </p:nvSpPr>
        <p:spPr>
          <a:xfrm>
            <a:off x="101600" y="1371600"/>
            <a:ext cx="5588000" cy="4572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5855D-1F94-FADF-4EB2-586856860948}"/>
              </a:ext>
            </a:extLst>
          </p:cNvPr>
          <p:cNvSpPr txBox="1"/>
          <p:nvPr/>
        </p:nvSpPr>
        <p:spPr>
          <a:xfrm>
            <a:off x="152400" y="1422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l-PL" sz="950">
                <a:solidFill>
                  <a:srgbClr val="FFFFFF"/>
                </a:solidFill>
                <a:latin typeface="Segoe UI" panose="020B0502040204020203" pitchFamily="34" charset="0"/>
              </a:rPr>
              <a:t>Raspberry Pi Pico W (Wi-Fi on)</a:t>
            </a:r>
            <a:endParaRPr lang="en-IN" sz="9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D28E6D-B613-F769-22AC-DBA6B6C147F7}"/>
              </a:ext>
            </a:extLst>
          </p:cNvPr>
          <p:cNvSpPr txBox="1"/>
          <p:nvPr/>
        </p:nvSpPr>
        <p:spPr>
          <a:xfrm>
            <a:off x="3200400" y="14224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100 mA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80890A-0105-3E7D-628F-3ED12C18A0C0}"/>
              </a:ext>
            </a:extLst>
          </p:cNvPr>
          <p:cNvSpPr txBox="1"/>
          <p:nvPr/>
        </p:nvSpPr>
        <p:spPr>
          <a:xfrm>
            <a:off x="4267200" y="14224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7EC8E3"/>
                </a:solidFill>
                <a:latin typeface="Segoe UI" panose="020B0502040204020203" pitchFamily="34" charset="0"/>
              </a:rPr>
              <a:t>330 mW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EF48CC-8ED0-7FF7-500B-EACD38FD70C6}"/>
              </a:ext>
            </a:extLst>
          </p:cNvPr>
          <p:cNvSpPr/>
          <p:nvPr/>
        </p:nvSpPr>
        <p:spPr>
          <a:xfrm>
            <a:off x="101600" y="1828800"/>
            <a:ext cx="4572000" cy="762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F76E53-6C45-C695-9D83-26570DBE7D06}"/>
              </a:ext>
            </a:extLst>
          </p:cNvPr>
          <p:cNvSpPr/>
          <p:nvPr/>
        </p:nvSpPr>
        <p:spPr>
          <a:xfrm>
            <a:off x="101600" y="2108200"/>
            <a:ext cx="5588000" cy="457200"/>
          </a:xfrm>
          <a:prstGeom prst="rect">
            <a:avLst/>
          </a:prstGeom>
          <a:solidFill>
            <a:srgbClr val="122A40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92944A-F346-8507-8301-9774EB3857B3}"/>
              </a:ext>
            </a:extLst>
          </p:cNvPr>
          <p:cNvSpPr txBox="1"/>
          <p:nvPr/>
        </p:nvSpPr>
        <p:spPr>
          <a:xfrm>
            <a:off x="152400" y="21590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Laser Module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B1EFA3-35DE-6AE5-4471-5F0EB78E66EC}"/>
              </a:ext>
            </a:extLst>
          </p:cNvPr>
          <p:cNvSpPr txBox="1"/>
          <p:nvPr/>
        </p:nvSpPr>
        <p:spPr>
          <a:xfrm>
            <a:off x="3200400" y="21590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 30 mA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00A972-C6B5-C999-00CF-A0162B3132F3}"/>
              </a:ext>
            </a:extLst>
          </p:cNvPr>
          <p:cNvSpPr txBox="1"/>
          <p:nvPr/>
        </p:nvSpPr>
        <p:spPr>
          <a:xfrm>
            <a:off x="4267200" y="21590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FF7070"/>
                </a:solidFill>
                <a:latin typeface="Segoe UI" panose="020B0502040204020203" pitchFamily="34" charset="0"/>
              </a:rPr>
              <a:t>150 mW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F12F22-E55E-45A1-05F2-92D89F3A99A0}"/>
              </a:ext>
            </a:extLst>
          </p:cNvPr>
          <p:cNvSpPr/>
          <p:nvPr/>
        </p:nvSpPr>
        <p:spPr>
          <a:xfrm>
            <a:off x="101600" y="2565400"/>
            <a:ext cx="2082800" cy="76200"/>
          </a:xfrm>
          <a:prstGeom prst="rect">
            <a:avLst/>
          </a:prstGeom>
          <a:solidFill>
            <a:srgbClr val="FF7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7D2223-96C7-FF0A-B3A3-385E2B42E47F}"/>
              </a:ext>
            </a:extLst>
          </p:cNvPr>
          <p:cNvSpPr/>
          <p:nvPr/>
        </p:nvSpPr>
        <p:spPr>
          <a:xfrm>
            <a:off x="101600" y="2844800"/>
            <a:ext cx="5588000" cy="4572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E273E9-E926-B9CF-781C-C567F6477289}"/>
              </a:ext>
            </a:extLst>
          </p:cNvPr>
          <p:cNvSpPr txBox="1"/>
          <p:nvPr/>
        </p:nvSpPr>
        <p:spPr>
          <a:xfrm>
            <a:off x="152400" y="28956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Buzzer (when active)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7632A4-CC2B-8779-DF6F-41333F7E1F11}"/>
              </a:ext>
            </a:extLst>
          </p:cNvPr>
          <p:cNvSpPr txBox="1"/>
          <p:nvPr/>
        </p:nvSpPr>
        <p:spPr>
          <a:xfrm>
            <a:off x="3200400" y="28956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 35 mA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0188BE-E60B-8033-481D-F95752BB5511}"/>
              </a:ext>
            </a:extLst>
          </p:cNvPr>
          <p:cNvSpPr txBox="1"/>
          <p:nvPr/>
        </p:nvSpPr>
        <p:spPr>
          <a:xfrm>
            <a:off x="4267200" y="28956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FFC870"/>
                </a:solidFill>
                <a:latin typeface="Segoe UI" panose="020B0502040204020203" pitchFamily="34" charset="0"/>
              </a:rPr>
              <a:t>175 mW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7BEC75-5A68-3643-E6A0-3CD0F28CE4A9}"/>
              </a:ext>
            </a:extLst>
          </p:cNvPr>
          <p:cNvSpPr/>
          <p:nvPr/>
        </p:nvSpPr>
        <p:spPr>
          <a:xfrm>
            <a:off x="101600" y="3302000"/>
            <a:ext cx="2438400" cy="762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B9A9F7-B7DF-68E0-8413-37C18FAEE1D6}"/>
              </a:ext>
            </a:extLst>
          </p:cNvPr>
          <p:cNvSpPr/>
          <p:nvPr/>
        </p:nvSpPr>
        <p:spPr>
          <a:xfrm>
            <a:off x="101600" y="3581400"/>
            <a:ext cx="5588000" cy="457200"/>
          </a:xfrm>
          <a:prstGeom prst="rect">
            <a:avLst/>
          </a:prstGeom>
          <a:solidFill>
            <a:srgbClr val="122A40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8BC0D-C283-58EF-543B-2CF451F7F875}"/>
              </a:ext>
            </a:extLst>
          </p:cNvPr>
          <p:cNvSpPr txBox="1"/>
          <p:nvPr/>
        </p:nvSpPr>
        <p:spPr>
          <a:xfrm>
            <a:off x="152400" y="36322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LEDs x4 (when on)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CAA45D-C48F-70EC-78C6-8A4ED85DF260}"/>
              </a:ext>
            </a:extLst>
          </p:cNvPr>
          <p:cNvSpPr txBox="1"/>
          <p:nvPr/>
        </p:nvSpPr>
        <p:spPr>
          <a:xfrm>
            <a:off x="3200400" y="36322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 40 mA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2953AD-0D13-90F6-A60E-A925A0EB15E4}"/>
              </a:ext>
            </a:extLst>
          </p:cNvPr>
          <p:cNvSpPr txBox="1"/>
          <p:nvPr/>
        </p:nvSpPr>
        <p:spPr>
          <a:xfrm>
            <a:off x="4267200" y="36322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80E880"/>
                </a:solidFill>
                <a:latin typeface="Segoe UI" panose="020B0502040204020203" pitchFamily="34" charset="0"/>
              </a:rPr>
              <a:t> 80 mW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EAFD63-081B-F180-74BC-2B6168213647}"/>
              </a:ext>
            </a:extLst>
          </p:cNvPr>
          <p:cNvSpPr/>
          <p:nvPr/>
        </p:nvSpPr>
        <p:spPr>
          <a:xfrm>
            <a:off x="101600" y="4038600"/>
            <a:ext cx="1117600" cy="76200"/>
          </a:xfrm>
          <a:prstGeom prst="rect">
            <a:avLst/>
          </a:prstGeom>
          <a:solidFill>
            <a:srgbClr val="80E8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FFE96A-FBDB-083C-C57B-3759C093D541}"/>
              </a:ext>
            </a:extLst>
          </p:cNvPr>
          <p:cNvSpPr/>
          <p:nvPr/>
        </p:nvSpPr>
        <p:spPr>
          <a:xfrm>
            <a:off x="101600" y="4318000"/>
            <a:ext cx="5588000" cy="4572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2523A6-9BA4-551B-86B5-F5F7A8063F3C}"/>
              </a:ext>
            </a:extLst>
          </p:cNvPr>
          <p:cNvSpPr txBox="1"/>
          <p:nvPr/>
        </p:nvSpPr>
        <p:spPr>
          <a:xfrm>
            <a:off x="152400" y="43688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LDR + Resistor Divider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1883F3-5205-E20D-9121-E622223A68A9}"/>
              </a:ext>
            </a:extLst>
          </p:cNvPr>
          <p:cNvSpPr txBox="1"/>
          <p:nvPr/>
        </p:nvSpPr>
        <p:spPr>
          <a:xfrm>
            <a:off x="3200400" y="43688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0.3 mA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A8A48C-767F-2789-15DA-CDBFA6F504D4}"/>
              </a:ext>
            </a:extLst>
          </p:cNvPr>
          <p:cNvSpPr txBox="1"/>
          <p:nvPr/>
        </p:nvSpPr>
        <p:spPr>
          <a:xfrm>
            <a:off x="4267200" y="43688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  1 mW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18F77F-E76B-39DD-181E-469FAAAB2D1D}"/>
              </a:ext>
            </a:extLst>
          </p:cNvPr>
          <p:cNvSpPr/>
          <p:nvPr/>
        </p:nvSpPr>
        <p:spPr>
          <a:xfrm>
            <a:off x="101600" y="4775200"/>
            <a:ext cx="50800" cy="76200"/>
          </a:xfrm>
          <a:prstGeom prst="rect">
            <a:avLst/>
          </a:prstGeom>
          <a:solidFill>
            <a:srgbClr val="B0C4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48051B-2A45-C8D8-9871-E45AF39EBEB4}"/>
              </a:ext>
            </a:extLst>
          </p:cNvPr>
          <p:cNvSpPr/>
          <p:nvPr/>
        </p:nvSpPr>
        <p:spPr>
          <a:xfrm>
            <a:off x="101600" y="5105400"/>
            <a:ext cx="5588000" cy="381000"/>
          </a:xfrm>
          <a:prstGeom prst="rect">
            <a:avLst/>
          </a:prstGeom>
          <a:solidFill>
            <a:srgbClr val="1A3A1A"/>
          </a:solidFill>
          <a:ln w="12700">
            <a:solidFill>
              <a:srgbClr val="80E8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D67FB3-4C9B-1300-9C61-2A480DA489FB}"/>
              </a:ext>
            </a:extLst>
          </p:cNvPr>
          <p:cNvSpPr txBox="1"/>
          <p:nvPr/>
        </p:nvSpPr>
        <p:spPr>
          <a:xfrm>
            <a:off x="152400" y="51689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TOTAL (worst case)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037A40-87F8-72F7-AA26-30DE608D4219}"/>
              </a:ext>
            </a:extLst>
          </p:cNvPr>
          <p:cNvSpPr txBox="1"/>
          <p:nvPr/>
        </p:nvSpPr>
        <p:spPr>
          <a:xfrm>
            <a:off x="4267200" y="51689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000" b="1">
                <a:solidFill>
                  <a:srgbClr val="FFC870"/>
                </a:solidFill>
                <a:latin typeface="Segoe UI" panose="020B0502040204020203" pitchFamily="34" charset="0"/>
              </a:rPr>
              <a:t>~736 mW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D2C4A1-26D4-288C-E769-631D19F82B4C}"/>
              </a:ext>
            </a:extLst>
          </p:cNvPr>
          <p:cNvSpPr/>
          <p:nvPr/>
        </p:nvSpPr>
        <p:spPr>
          <a:xfrm>
            <a:off x="5842000" y="990600"/>
            <a:ext cx="6248400" cy="15240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7EDBB3A-0FDE-5ADE-04F8-7230E0CA4DE0}"/>
              </a:ext>
            </a:extLst>
          </p:cNvPr>
          <p:cNvSpPr/>
          <p:nvPr/>
        </p:nvSpPr>
        <p:spPr>
          <a:xfrm>
            <a:off x="5842000" y="990600"/>
            <a:ext cx="50800" cy="1524000"/>
          </a:xfrm>
          <a:prstGeom prst="rect">
            <a:avLst/>
          </a:prstGeom>
          <a:solidFill>
            <a:srgbClr val="80E8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1AC9D3-EAEF-0857-710B-9960A62D2EFA}"/>
              </a:ext>
            </a:extLst>
          </p:cNvPr>
          <p:cNvSpPr txBox="1"/>
          <p:nvPr/>
        </p:nvSpPr>
        <p:spPr>
          <a:xfrm>
            <a:off x="5943600" y="1054100"/>
            <a:ext cx="604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80E880"/>
                </a:solidFill>
                <a:latin typeface="Segoe UI" panose="020B0502040204020203" pitchFamily="34" charset="0"/>
              </a:rPr>
              <a:t>  Power Source: USB 5V 2A Wall Adapter</a:t>
            </a:r>
            <a:endParaRPr lang="en-IN" sz="1050" b="1">
              <a:solidFill>
                <a:srgbClr val="80E880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5C372A-2633-21D2-C798-BBD0D084DFFE}"/>
              </a:ext>
            </a:extLst>
          </p:cNvPr>
          <p:cNvSpPr txBox="1"/>
          <p:nvPr/>
        </p:nvSpPr>
        <p:spPr>
          <a:xfrm>
            <a:off x="5943600" y="1346200"/>
            <a:ext cx="604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Indoor fixed install — 24/7 uptime required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Continuous Wi-Fi drains battery in hours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5V/2A = 10W available — 13x headroom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6156D0-BDFA-31AC-5C86-84F4ED1F4341}"/>
              </a:ext>
            </a:extLst>
          </p:cNvPr>
          <p:cNvSpPr/>
          <p:nvPr/>
        </p:nvSpPr>
        <p:spPr>
          <a:xfrm>
            <a:off x="5842000" y="2641600"/>
            <a:ext cx="6248400" cy="23114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609D94-5653-6074-5A43-217A266D9B04}"/>
              </a:ext>
            </a:extLst>
          </p:cNvPr>
          <p:cNvSpPr/>
          <p:nvPr/>
        </p:nvSpPr>
        <p:spPr>
          <a:xfrm>
            <a:off x="5842000" y="2641600"/>
            <a:ext cx="50800" cy="23114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714B6A-42BF-BDBD-5141-97A80E47F8DF}"/>
              </a:ext>
            </a:extLst>
          </p:cNvPr>
          <p:cNvSpPr txBox="1"/>
          <p:nvPr/>
        </p:nvSpPr>
        <p:spPr>
          <a:xfrm>
            <a:off x="5943600" y="2705100"/>
            <a:ext cx="604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  Power Efficiency Strategies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129143-75FD-9C6A-B282-BC59847D37F2}"/>
              </a:ext>
            </a:extLst>
          </p:cNvPr>
          <p:cNvSpPr txBox="1"/>
          <p:nvPr/>
        </p:nvSpPr>
        <p:spPr>
          <a:xfrm>
            <a:off x="5943600" y="2997200"/>
            <a:ext cx="604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Blynk updates every 2s (not every 100ms poll)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Wi-Fi radio in low-power listen mode between updates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Blue LEDs at 30% PWM duty cycle in standby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Buzzer energized only during active alarm events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10kOhm LDR pull-down limits quiescent current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E1B84ED-5734-07F2-B2A5-CA4327C7829B}"/>
              </a:ext>
            </a:extLst>
          </p:cNvPr>
          <p:cNvSpPr/>
          <p:nvPr/>
        </p:nvSpPr>
        <p:spPr>
          <a:xfrm>
            <a:off x="0" y="6527800"/>
            <a:ext cx="12192000" cy="3302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D74E66-D44E-1484-14D2-AFCF1D3BA7B4}"/>
              </a:ext>
            </a:extLst>
          </p:cNvPr>
          <p:cNvSpPr txBox="1"/>
          <p:nvPr/>
        </p:nvSpPr>
        <p:spPr>
          <a:xfrm>
            <a:off x="101600" y="6553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CSCE 5612  |  Embedded Hardware/Software Design  |  Spring 2026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26F0F9-6458-C1AC-68C2-44C0B04E0183}"/>
              </a:ext>
            </a:extLst>
          </p:cNvPr>
          <p:cNvSpPr txBox="1"/>
          <p:nvPr/>
        </p:nvSpPr>
        <p:spPr>
          <a:xfrm>
            <a:off x="11176000" y="65532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188036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8E91D0-9ABF-71E6-C756-14B5FC8A7E1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B93ECF-1555-CD10-DF6E-B72BCC2095D1}"/>
              </a:ext>
            </a:extLst>
          </p:cNvPr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5D0F7-4DF7-BB9C-32A3-B698064B744A}"/>
              </a:ext>
            </a:extLst>
          </p:cNvPr>
          <p:cNvSpPr txBox="1"/>
          <p:nvPr/>
        </p:nvSpPr>
        <p:spPr>
          <a:xfrm>
            <a:off x="101600" y="635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Integration Challenges &amp;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8071D-AA8A-6915-AC7E-A4B1CB9BFC61}"/>
              </a:ext>
            </a:extLst>
          </p:cNvPr>
          <p:cNvSpPr txBox="1"/>
          <p:nvPr/>
        </p:nvSpPr>
        <p:spPr>
          <a:xfrm>
            <a:off x="1016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EC8E3"/>
                </a:solidFill>
                <a:latin typeface="Segoe UI" panose="020B0502040204020203" pitchFamily="34" charset="0"/>
              </a:rPr>
              <a:t>Identified risks and concrete mitigation strategies</a:t>
            </a:r>
            <a:endParaRPr lang="en-IN" sz="900">
              <a:solidFill>
                <a:srgbClr val="7EC8E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0943D-16F6-709C-5457-DD98B428BA33}"/>
              </a:ext>
            </a:extLst>
          </p:cNvPr>
          <p:cNvSpPr/>
          <p:nvPr/>
        </p:nvSpPr>
        <p:spPr>
          <a:xfrm>
            <a:off x="101600" y="1016000"/>
            <a:ext cx="5867400" cy="16256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6C5B7E-6EBE-3B89-E6A7-5D9D013DDE89}"/>
              </a:ext>
            </a:extLst>
          </p:cNvPr>
          <p:cNvSpPr/>
          <p:nvPr/>
        </p:nvSpPr>
        <p:spPr>
          <a:xfrm>
            <a:off x="101600" y="1016000"/>
            <a:ext cx="50800" cy="16256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25457-B068-C2A9-1555-076E85530973}"/>
              </a:ext>
            </a:extLst>
          </p:cNvPr>
          <p:cNvSpPr txBox="1"/>
          <p:nvPr/>
        </p:nvSpPr>
        <p:spPr>
          <a:xfrm>
            <a:off x="228600" y="10795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Wi-Fi Latency on Alarm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BBDEB6-B032-BBB4-4F3A-124A0E7655F3}"/>
              </a:ext>
            </a:extLst>
          </p:cNvPr>
          <p:cNvSpPr txBox="1"/>
          <p:nvPr/>
        </p:nvSpPr>
        <p:spPr>
          <a:xfrm>
            <a:off x="228600" y="13970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FF7070"/>
                </a:solidFill>
                <a:latin typeface="Segoe UI" panose="020B0502040204020203" pitchFamily="34" charset="0"/>
              </a:rPr>
              <a:t>Problem: Wi-Fi connection at alarm time causes 2-5s notification delay.</a:t>
            </a:r>
            <a:endParaRPr lang="en-IN" sz="900">
              <a:solidFill>
                <a:srgbClr val="FF707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C79A35-E580-A899-FC93-F9FAD6EAC504}"/>
              </a:ext>
            </a:extLst>
          </p:cNvPr>
          <p:cNvSpPr txBox="1"/>
          <p:nvPr/>
        </p:nvSpPr>
        <p:spPr>
          <a:xfrm>
            <a:off x="228600" y="19304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0E880"/>
                </a:solidFill>
                <a:latin typeface="Segoe UI" panose="020B0502040204020203" pitchFamily="34" charset="0"/>
              </a:rPr>
              <a:t>Solution: Persistent Wi-Fi + Blynk TCP socket at startup. Local alarm triggers instantly.</a:t>
            </a:r>
            <a:endParaRPr lang="en-IN" sz="900">
              <a:solidFill>
                <a:srgbClr val="80E880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B9B8B4-778C-FC64-AE9B-FE7AC015D0EE}"/>
              </a:ext>
            </a:extLst>
          </p:cNvPr>
          <p:cNvSpPr/>
          <p:nvPr/>
        </p:nvSpPr>
        <p:spPr>
          <a:xfrm>
            <a:off x="6070600" y="1016000"/>
            <a:ext cx="5867400" cy="16256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85D32D-37BB-158E-915A-A6DFA6A3A2F1}"/>
              </a:ext>
            </a:extLst>
          </p:cNvPr>
          <p:cNvSpPr/>
          <p:nvPr/>
        </p:nvSpPr>
        <p:spPr>
          <a:xfrm>
            <a:off x="6070600" y="1016000"/>
            <a:ext cx="50800" cy="16256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E613F-D28D-0607-E248-B16F95D1CABF}"/>
              </a:ext>
            </a:extLst>
          </p:cNvPr>
          <p:cNvSpPr txBox="1"/>
          <p:nvPr/>
        </p:nvSpPr>
        <p:spPr>
          <a:xfrm>
            <a:off x="6197600" y="10795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LDR False Alarms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95B8EB-D462-82A7-AD93-A8C93D8A3A6B}"/>
              </a:ext>
            </a:extLst>
          </p:cNvPr>
          <p:cNvSpPr txBox="1"/>
          <p:nvPr/>
        </p:nvSpPr>
        <p:spPr>
          <a:xfrm>
            <a:off x="6197600" y="13970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FF7070"/>
                </a:solidFill>
                <a:latin typeface="Segoe UI" panose="020B0502040204020203" pitchFamily="34" charset="0"/>
              </a:rPr>
              <a:t>Problem: Ambient light changes cross the ADC threshold incorrectly.</a:t>
            </a:r>
            <a:endParaRPr lang="en-IN" sz="900">
              <a:solidFill>
                <a:srgbClr val="FF7070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CBAD59-953D-160A-33AC-808C8CDCB5EE}"/>
              </a:ext>
            </a:extLst>
          </p:cNvPr>
          <p:cNvSpPr txBox="1"/>
          <p:nvPr/>
        </p:nvSpPr>
        <p:spPr>
          <a:xfrm>
            <a:off x="6197600" y="19304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0E880"/>
                </a:solidFill>
                <a:latin typeface="Segoe UI" panose="020B0502040204020203" pitchFamily="34" charset="0"/>
              </a:rPr>
              <a:t>Solution: Dynamic threshold at boot. Requires 3 consecutive crossings (300ms) before alarm.</a:t>
            </a:r>
            <a:endParaRPr lang="en-IN" sz="900">
              <a:solidFill>
                <a:srgbClr val="80E880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5B5F01-4DD5-DECE-79F9-C087D0FE99E3}"/>
              </a:ext>
            </a:extLst>
          </p:cNvPr>
          <p:cNvSpPr/>
          <p:nvPr/>
        </p:nvSpPr>
        <p:spPr>
          <a:xfrm>
            <a:off x="101600" y="2768600"/>
            <a:ext cx="5867400" cy="16256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8F9902-9236-445E-1605-9B38E24B04AB}"/>
              </a:ext>
            </a:extLst>
          </p:cNvPr>
          <p:cNvSpPr/>
          <p:nvPr/>
        </p:nvSpPr>
        <p:spPr>
          <a:xfrm>
            <a:off x="101600" y="2768600"/>
            <a:ext cx="50800" cy="16256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953609-9715-540C-DA79-B74FBA914BE9}"/>
              </a:ext>
            </a:extLst>
          </p:cNvPr>
          <p:cNvSpPr txBox="1"/>
          <p:nvPr/>
        </p:nvSpPr>
        <p:spPr>
          <a:xfrm>
            <a:off x="228600" y="28321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Gmail SMTP Security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374545-0524-5A7B-FC2B-AD9EA907BC3F}"/>
              </a:ext>
            </a:extLst>
          </p:cNvPr>
          <p:cNvSpPr txBox="1"/>
          <p:nvPr/>
        </p:nvSpPr>
        <p:spPr>
          <a:xfrm>
            <a:off x="228600" y="31496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FF7070"/>
                </a:solidFill>
                <a:latin typeface="Segoe UI" panose="020B0502040204020203" pitchFamily="34" charset="0"/>
              </a:rPr>
              <a:t>Problem: Google blocks SMTP with regular passwords; credentials in firmware are a risk.</a:t>
            </a:r>
            <a:endParaRPr lang="en-IN" sz="900">
              <a:solidFill>
                <a:srgbClr val="FF7070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385D37-8EDA-74CF-D1C1-435954E0CE38}"/>
              </a:ext>
            </a:extLst>
          </p:cNvPr>
          <p:cNvSpPr txBox="1"/>
          <p:nvPr/>
        </p:nvSpPr>
        <p:spPr>
          <a:xfrm>
            <a:off x="228600" y="36830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0E880"/>
                </a:solidFill>
                <a:latin typeface="Segoe UI" panose="020B0502040204020203" pitchFamily="34" charset="0"/>
              </a:rPr>
              <a:t>Solution: Google App Password + SSL port 465. No plain-text credentials transmitted.</a:t>
            </a:r>
            <a:endParaRPr lang="en-IN" sz="900">
              <a:solidFill>
                <a:srgbClr val="80E880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92347E-B19E-7424-5814-7C3DC0FE3F72}"/>
              </a:ext>
            </a:extLst>
          </p:cNvPr>
          <p:cNvSpPr/>
          <p:nvPr/>
        </p:nvSpPr>
        <p:spPr>
          <a:xfrm>
            <a:off x="6070600" y="2768600"/>
            <a:ext cx="5867400" cy="16256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49C88C-9D58-DA37-C1A4-EFC0AF2E90D9}"/>
              </a:ext>
            </a:extLst>
          </p:cNvPr>
          <p:cNvSpPr/>
          <p:nvPr/>
        </p:nvSpPr>
        <p:spPr>
          <a:xfrm>
            <a:off x="6070600" y="2768600"/>
            <a:ext cx="50800" cy="16256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314A83-0C83-9E11-C898-852CD57426F9}"/>
              </a:ext>
            </a:extLst>
          </p:cNvPr>
          <p:cNvSpPr txBox="1"/>
          <p:nvPr/>
        </p:nvSpPr>
        <p:spPr>
          <a:xfrm>
            <a:off x="6197600" y="28321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GPIO Current Limits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CAD6C3-BA26-6719-795A-3E2095E68254}"/>
              </a:ext>
            </a:extLst>
          </p:cNvPr>
          <p:cNvSpPr txBox="1"/>
          <p:nvPr/>
        </p:nvSpPr>
        <p:spPr>
          <a:xfrm>
            <a:off x="6197600" y="31496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FF7070"/>
                </a:solidFill>
                <a:latin typeface="Segoe UI" panose="020B0502040204020203" pitchFamily="34" charset="0"/>
              </a:rPr>
              <a:t>Problem: Pico W GPIO pins limited to 12mA - insufficient for buzzer and LED arrays.</a:t>
            </a:r>
            <a:endParaRPr lang="en-IN" sz="900">
              <a:solidFill>
                <a:srgbClr val="FF7070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30050A-B86C-9E21-B0A5-BB07A51A61A9}"/>
              </a:ext>
            </a:extLst>
          </p:cNvPr>
          <p:cNvSpPr txBox="1"/>
          <p:nvPr/>
        </p:nvSpPr>
        <p:spPr>
          <a:xfrm>
            <a:off x="6197600" y="36830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0E880"/>
                </a:solidFill>
                <a:latin typeface="Segoe UI" panose="020B0502040204020203" pitchFamily="34" charset="0"/>
              </a:rPr>
              <a:t>Solution: D400 NPN transistors switch loads. GPIO drives only transistor base via 1kOhm.</a:t>
            </a:r>
            <a:endParaRPr lang="en-IN" sz="900">
              <a:solidFill>
                <a:srgbClr val="80E880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7D8108-F13A-E41F-0947-20352EB3B1B8}"/>
              </a:ext>
            </a:extLst>
          </p:cNvPr>
          <p:cNvSpPr/>
          <p:nvPr/>
        </p:nvSpPr>
        <p:spPr>
          <a:xfrm>
            <a:off x="101600" y="4521200"/>
            <a:ext cx="5867400" cy="16256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386CDC-CCD9-4847-B0F5-D0FB931B898E}"/>
              </a:ext>
            </a:extLst>
          </p:cNvPr>
          <p:cNvSpPr/>
          <p:nvPr/>
        </p:nvSpPr>
        <p:spPr>
          <a:xfrm>
            <a:off x="101600" y="4521200"/>
            <a:ext cx="50800" cy="16256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78AC3C-2792-7F5E-38AD-0987A0909413}"/>
              </a:ext>
            </a:extLst>
          </p:cNvPr>
          <p:cNvSpPr txBox="1"/>
          <p:nvPr/>
        </p:nvSpPr>
        <p:spPr>
          <a:xfrm>
            <a:off x="228600" y="45847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Laser / LDR Alignment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AF3BEC-18E3-BAAA-3705-0E415DF8595B}"/>
              </a:ext>
            </a:extLst>
          </p:cNvPr>
          <p:cNvSpPr txBox="1"/>
          <p:nvPr/>
        </p:nvSpPr>
        <p:spPr>
          <a:xfrm>
            <a:off x="228600" y="49022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FF7070"/>
                </a:solidFill>
                <a:latin typeface="Segoe UI" panose="020B0502040204020203" pitchFamily="34" charset="0"/>
              </a:rPr>
              <a:t>Problem: Precise alignment across PCB gate required for reliable detection.</a:t>
            </a:r>
            <a:endParaRPr lang="en-IN" sz="900">
              <a:solidFill>
                <a:srgbClr val="FF7070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DB2363-33CD-5642-279E-C96088843C34}"/>
              </a:ext>
            </a:extLst>
          </p:cNvPr>
          <p:cNvSpPr txBox="1"/>
          <p:nvPr/>
        </p:nvSpPr>
        <p:spPr>
          <a:xfrm>
            <a:off x="228600" y="54356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0E880"/>
                </a:solidFill>
                <a:latin typeface="Segoe UI" panose="020B0502040204020203" pitchFamily="34" charset="0"/>
              </a:rPr>
              <a:t>Solution: Custom gate PCB fixes mounting positions. LDR on adjustable header.</a:t>
            </a:r>
            <a:endParaRPr lang="en-IN" sz="900">
              <a:solidFill>
                <a:srgbClr val="80E880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D1983F-66F6-7EA0-1A11-09C08D7A2AD0}"/>
              </a:ext>
            </a:extLst>
          </p:cNvPr>
          <p:cNvSpPr/>
          <p:nvPr/>
        </p:nvSpPr>
        <p:spPr>
          <a:xfrm>
            <a:off x="6070600" y="4521200"/>
            <a:ext cx="5867400" cy="16256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F22423-763B-3A9B-AAE0-ACCEB0120B4B}"/>
              </a:ext>
            </a:extLst>
          </p:cNvPr>
          <p:cNvSpPr/>
          <p:nvPr/>
        </p:nvSpPr>
        <p:spPr>
          <a:xfrm>
            <a:off x="6070600" y="4521200"/>
            <a:ext cx="50800" cy="1625600"/>
          </a:xfrm>
          <a:prstGeom prst="rect">
            <a:avLst/>
          </a:prstGeom>
          <a:solidFill>
            <a:srgbClr val="FFC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9B923A-83CC-BA6E-7356-583EAD419155}"/>
              </a:ext>
            </a:extLst>
          </p:cNvPr>
          <p:cNvSpPr txBox="1"/>
          <p:nvPr/>
        </p:nvSpPr>
        <p:spPr>
          <a:xfrm>
            <a:off x="6197600" y="45847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C870"/>
                </a:solidFill>
                <a:latin typeface="Segoe UI" panose="020B0502040204020203" pitchFamily="34" charset="0"/>
              </a:rPr>
              <a:t>Email Flooding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2ABF-B560-E39E-40C6-00BEFF6313C5}"/>
              </a:ext>
            </a:extLst>
          </p:cNvPr>
          <p:cNvSpPr txBox="1"/>
          <p:nvPr/>
        </p:nvSpPr>
        <p:spPr>
          <a:xfrm>
            <a:off x="6197600" y="49022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FF7070"/>
                </a:solidFill>
                <a:latin typeface="Segoe UI" panose="020B0502040204020203" pitchFamily="34" charset="0"/>
              </a:rPr>
              <a:t>Problem: Sustained beam interruption triggers continuous SMTP connections.</a:t>
            </a:r>
            <a:endParaRPr lang="en-IN" sz="900">
              <a:solidFill>
                <a:srgbClr val="FF7070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4B99C0-D9AA-0FBD-CA52-8F4233168D03}"/>
              </a:ext>
            </a:extLst>
          </p:cNvPr>
          <p:cNvSpPr txBox="1"/>
          <p:nvPr/>
        </p:nvSpPr>
        <p:spPr>
          <a:xfrm>
            <a:off x="6197600" y="5435600"/>
            <a:ext cx="566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80E880"/>
                </a:solidFill>
                <a:latin typeface="Segoe UI" panose="020B0502040204020203" pitchFamily="34" charset="0"/>
              </a:rPr>
              <a:t>Solution: 30-second cooldown timer. One email per event; suppressed until beam restored.</a:t>
            </a:r>
            <a:endParaRPr lang="en-IN" sz="900">
              <a:solidFill>
                <a:srgbClr val="80E880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8310923-3A83-4C35-91B5-3A3CFFB9CFE7}"/>
              </a:ext>
            </a:extLst>
          </p:cNvPr>
          <p:cNvSpPr/>
          <p:nvPr/>
        </p:nvSpPr>
        <p:spPr>
          <a:xfrm>
            <a:off x="0" y="6527800"/>
            <a:ext cx="12192000" cy="3302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9D7045-ADFB-0F9A-4500-CB5BD492D3FC}"/>
              </a:ext>
            </a:extLst>
          </p:cNvPr>
          <p:cNvSpPr txBox="1"/>
          <p:nvPr/>
        </p:nvSpPr>
        <p:spPr>
          <a:xfrm>
            <a:off x="101600" y="6553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CSCE 5612  |  Embedded Hardware/Software Design  |  Spring 2026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77B4AF-3801-BE1E-EFDC-956C865168DC}"/>
              </a:ext>
            </a:extLst>
          </p:cNvPr>
          <p:cNvSpPr txBox="1"/>
          <p:nvPr/>
        </p:nvSpPr>
        <p:spPr>
          <a:xfrm>
            <a:off x="11176000" y="65532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694412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9AC89F-015D-A61D-2195-F89B0862C35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D7AA15-971C-C922-3EB3-95AF0295216A}"/>
              </a:ext>
            </a:extLst>
          </p:cNvPr>
          <p:cNvSpPr/>
          <p:nvPr/>
        </p:nvSpPr>
        <p:spPr>
          <a:xfrm>
            <a:off x="0" y="0"/>
            <a:ext cx="63500" cy="9144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40D29-269B-15BC-3DB8-942E94EB875F}"/>
              </a:ext>
            </a:extLst>
          </p:cNvPr>
          <p:cNvSpPr txBox="1"/>
          <p:nvPr/>
        </p:nvSpPr>
        <p:spPr>
          <a:xfrm>
            <a:off x="101600" y="635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Summary &amp; 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CD102-276E-7745-7BBD-0A9767366084}"/>
              </a:ext>
            </a:extLst>
          </p:cNvPr>
          <p:cNvSpPr txBox="1"/>
          <p:nvPr/>
        </p:nvSpPr>
        <p:spPr>
          <a:xfrm>
            <a:off x="1016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7EC8E3"/>
                </a:solidFill>
                <a:latin typeface="Segoe UI" panose="020B0502040204020203" pitchFamily="34" charset="0"/>
              </a:rPr>
              <a:t>Milestone 1 deliverables complete — Milestone 2 hardware testing begins</a:t>
            </a:r>
            <a:endParaRPr lang="en-IN" sz="900">
              <a:solidFill>
                <a:srgbClr val="7EC8E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E05798-B608-0D32-E6CC-EB27F42A7DC3}"/>
              </a:ext>
            </a:extLst>
          </p:cNvPr>
          <p:cNvSpPr/>
          <p:nvPr/>
        </p:nvSpPr>
        <p:spPr>
          <a:xfrm>
            <a:off x="101600" y="990600"/>
            <a:ext cx="5715000" cy="22606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D2D711-05B7-FB11-A705-B0975CE56465}"/>
              </a:ext>
            </a:extLst>
          </p:cNvPr>
          <p:cNvSpPr/>
          <p:nvPr/>
        </p:nvSpPr>
        <p:spPr>
          <a:xfrm>
            <a:off x="101600" y="990600"/>
            <a:ext cx="50800" cy="2260600"/>
          </a:xfrm>
          <a:prstGeom prst="rect">
            <a:avLst/>
          </a:prstGeom>
          <a:solidFill>
            <a:srgbClr val="80E8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A6754-621A-AA89-3351-7CC10659CFBA}"/>
              </a:ext>
            </a:extLst>
          </p:cNvPr>
          <p:cNvSpPr txBox="1"/>
          <p:nvPr/>
        </p:nvSpPr>
        <p:spPr>
          <a:xfrm>
            <a:off x="203200" y="1054100"/>
            <a:ext cx="551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80E880"/>
                </a:solidFill>
                <a:latin typeface="Segoe UI" panose="020B0502040204020203" pitchFamily="34" charset="0"/>
              </a:rPr>
              <a:t>  Milestone 1 Goals Achieved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076EF7-4A87-0FB6-D771-96012C0B87FA}"/>
              </a:ext>
            </a:extLst>
          </p:cNvPr>
          <p:cNvSpPr txBox="1"/>
          <p:nvPr/>
        </p:nvSpPr>
        <p:spPr>
          <a:xfrm>
            <a:off x="203200" y="1346200"/>
            <a:ext cx="551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System architecture fully defined with block diagram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All hardware selected &amp; justified with specs and URLs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IoT extensions (Blynk + Gmail) designed &amp; integrated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Power budget calculated — USB 5V solution justified</a:t>
            </a:r>
          </a:p>
          <a:p>
            <a:r>
              <a:rPr lang="en-US" sz="900">
                <a:solidFill>
                  <a:srgbClr val="B0C4D8"/>
                </a:solidFill>
                <a:latin typeface="Segoe UI" panose="020B0502040204020203" pitchFamily="34" charset="0"/>
              </a:rPr>
              <a:t>• 6 integration challenges identified with concrete solutions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3815-7713-794E-3C7F-C0078142DA89}"/>
              </a:ext>
            </a:extLst>
          </p:cNvPr>
          <p:cNvSpPr/>
          <p:nvPr/>
        </p:nvSpPr>
        <p:spPr>
          <a:xfrm>
            <a:off x="101600" y="3378200"/>
            <a:ext cx="5715000" cy="22606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1868CF-977D-95C1-B64D-AB3FD4C11B9F}"/>
              </a:ext>
            </a:extLst>
          </p:cNvPr>
          <p:cNvSpPr/>
          <p:nvPr/>
        </p:nvSpPr>
        <p:spPr>
          <a:xfrm>
            <a:off x="101600" y="3378200"/>
            <a:ext cx="50800" cy="2260600"/>
          </a:xfrm>
          <a:prstGeom prst="rect">
            <a:avLst/>
          </a:prstGeom>
          <a:solidFill>
            <a:srgbClr val="7EC8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FE61D2-F0E7-7571-6616-919848E3A114}"/>
              </a:ext>
            </a:extLst>
          </p:cNvPr>
          <p:cNvSpPr txBox="1"/>
          <p:nvPr/>
        </p:nvSpPr>
        <p:spPr>
          <a:xfrm>
            <a:off x="203200" y="3441700"/>
            <a:ext cx="551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7EC8E3"/>
                </a:solidFill>
                <a:latin typeface="Segoe UI" panose="020B0502040204020203" pitchFamily="34" charset="0"/>
              </a:rPr>
              <a:t>  Milestone 2 Plan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256EDD-69C7-391F-453D-3C935098CB55}"/>
              </a:ext>
            </a:extLst>
          </p:cNvPr>
          <p:cNvSpPr txBox="1"/>
          <p:nvPr/>
        </p:nvSpPr>
        <p:spPr>
          <a:xfrm>
            <a:off x="203200" y="3733800"/>
            <a:ext cx="551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Order PCBs from JLCPCB and assemble all components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Flash MicroPython firmware on Raspberry Pi Pico W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Calibrate LDR threshold and verify laser alignment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Integrate Blynk library — verify live dashboard</a:t>
            </a:r>
          </a:p>
          <a:p>
            <a:r>
              <a:rPr lang="en-IN" sz="900">
                <a:solidFill>
                  <a:srgbClr val="B0C4D8"/>
                </a:solidFill>
                <a:latin typeface="Segoe UI" panose="020B0502040204020203" pitchFamily="34" charset="0"/>
              </a:rPr>
              <a:t>• Test Gmail SMTP alert with real intrusion events</a:t>
            </a:r>
          </a:p>
          <a:p>
            <a:endParaRPr lang="en-IN" sz="900">
              <a:solidFill>
                <a:srgbClr val="B0C4D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6F3C4F-7B23-AEE2-DB5C-26EC87FCD017}"/>
              </a:ext>
            </a:extLst>
          </p:cNvPr>
          <p:cNvSpPr txBox="1"/>
          <p:nvPr/>
        </p:nvSpPr>
        <p:spPr>
          <a:xfrm>
            <a:off x="5969000" y="10160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7EC8E3"/>
                </a:solidFill>
                <a:latin typeface="Segoe UI" panose="020B0502040204020203" pitchFamily="34" charset="0"/>
              </a:rPr>
              <a:t>Component 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5DA1BA-845F-9B7A-6CE0-FD94CF4C0973}"/>
              </a:ext>
            </a:extLst>
          </p:cNvPr>
          <p:cNvSpPr/>
          <p:nvPr/>
        </p:nvSpPr>
        <p:spPr>
          <a:xfrm>
            <a:off x="5943600" y="1371600"/>
            <a:ext cx="6146800" cy="330200"/>
          </a:xfrm>
          <a:prstGeom prst="rect">
            <a:avLst/>
          </a:prstGeom>
          <a:solidFill>
            <a:srgbClr val="122A40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9F32B5-AD97-F721-F21F-8DCC1B72FDF8}"/>
              </a:ext>
            </a:extLst>
          </p:cNvPr>
          <p:cNvSpPr txBox="1"/>
          <p:nvPr/>
        </p:nvSpPr>
        <p:spPr>
          <a:xfrm>
            <a:off x="5994400" y="1397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7EC8E3"/>
                </a:solidFill>
                <a:latin typeface="Segoe UI" panose="020B0502040204020203" pitchFamily="34" charset="0"/>
              </a:rPr>
              <a:t>Component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BA00E2-0611-0F07-C0EE-1B4E44FEDCF0}"/>
              </a:ext>
            </a:extLst>
          </p:cNvPr>
          <p:cNvSpPr txBox="1"/>
          <p:nvPr/>
        </p:nvSpPr>
        <p:spPr>
          <a:xfrm>
            <a:off x="9093200" y="13970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00" b="1">
                <a:solidFill>
                  <a:srgbClr val="7EC8E3"/>
                </a:solidFill>
                <a:latin typeface="Segoe UI" panose="020B0502040204020203" pitchFamily="34" charset="0"/>
              </a:rPr>
              <a:t>Vendor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F9F40-92FD-353E-E538-40DBF7771C26}"/>
              </a:ext>
            </a:extLst>
          </p:cNvPr>
          <p:cNvSpPr txBox="1"/>
          <p:nvPr/>
        </p:nvSpPr>
        <p:spPr>
          <a:xfrm>
            <a:off x="10668000" y="1397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00" b="1">
                <a:solidFill>
                  <a:srgbClr val="7EC8E3"/>
                </a:solidFill>
                <a:latin typeface="Segoe UI" panose="020B0502040204020203" pitchFamily="34" charset="0"/>
              </a:rPr>
              <a:t>~Cost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05F09C-645B-F41E-E2BC-810C37D9D564}"/>
              </a:ext>
            </a:extLst>
          </p:cNvPr>
          <p:cNvSpPr/>
          <p:nvPr/>
        </p:nvSpPr>
        <p:spPr>
          <a:xfrm>
            <a:off x="5943600" y="1727200"/>
            <a:ext cx="6146800" cy="4318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B3F01D-6015-6030-90E1-70CD8577E7EE}"/>
              </a:ext>
            </a:extLst>
          </p:cNvPr>
          <p:cNvSpPr txBox="1"/>
          <p:nvPr/>
        </p:nvSpPr>
        <p:spPr>
          <a:xfrm>
            <a:off x="5994400" y="1778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Raspberry Pi Pico 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DDAD37-C6C7-0EF2-1F34-B22A17DFB669}"/>
              </a:ext>
            </a:extLst>
          </p:cNvPr>
          <p:cNvSpPr txBox="1"/>
          <p:nvPr/>
        </p:nvSpPr>
        <p:spPr>
          <a:xfrm>
            <a:off x="9093200" y="17780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Adafruit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9E1519-0458-CDFF-736A-C65964CD506D}"/>
              </a:ext>
            </a:extLst>
          </p:cNvPr>
          <p:cNvSpPr txBox="1"/>
          <p:nvPr/>
        </p:nvSpPr>
        <p:spPr>
          <a:xfrm>
            <a:off x="10668000" y="1778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FFC870"/>
                </a:solidFill>
                <a:latin typeface="Segoe UI" panose="020B0502040204020203" pitchFamily="34" charset="0"/>
              </a:rPr>
              <a:t>$6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20C614-6F3F-511C-3D3D-159777035D37}"/>
              </a:ext>
            </a:extLst>
          </p:cNvPr>
          <p:cNvSpPr/>
          <p:nvPr/>
        </p:nvSpPr>
        <p:spPr>
          <a:xfrm>
            <a:off x="5943600" y="2209800"/>
            <a:ext cx="6146800" cy="431800"/>
          </a:xfrm>
          <a:prstGeom prst="rect">
            <a:avLst/>
          </a:prstGeom>
          <a:solidFill>
            <a:srgbClr val="122A40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C99759-9FFC-6CD2-A3FA-9A04B40F9D69}"/>
              </a:ext>
            </a:extLst>
          </p:cNvPr>
          <p:cNvSpPr txBox="1"/>
          <p:nvPr/>
        </p:nvSpPr>
        <p:spPr>
          <a:xfrm>
            <a:off x="5994400" y="2260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KY-008 Laser Module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2FAAD8-758A-C5E2-03D4-66DCC4DF3633}"/>
              </a:ext>
            </a:extLst>
          </p:cNvPr>
          <p:cNvSpPr txBox="1"/>
          <p:nvPr/>
        </p:nvSpPr>
        <p:spPr>
          <a:xfrm>
            <a:off x="9093200" y="2260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Amazon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729B6B-7B60-BA8A-C48E-73DB2E97A764}"/>
              </a:ext>
            </a:extLst>
          </p:cNvPr>
          <p:cNvSpPr txBox="1"/>
          <p:nvPr/>
        </p:nvSpPr>
        <p:spPr>
          <a:xfrm>
            <a:off x="10668000" y="2260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FFC870"/>
                </a:solidFill>
                <a:latin typeface="Segoe UI" panose="020B0502040204020203" pitchFamily="34" charset="0"/>
              </a:rPr>
              <a:t>$5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D80DD1-F83E-AEB9-ACFB-360A0E50CBA7}"/>
              </a:ext>
            </a:extLst>
          </p:cNvPr>
          <p:cNvSpPr/>
          <p:nvPr/>
        </p:nvSpPr>
        <p:spPr>
          <a:xfrm>
            <a:off x="5943600" y="2692400"/>
            <a:ext cx="6146800" cy="4318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C9130E-EA87-B36C-343B-707499E231B4}"/>
              </a:ext>
            </a:extLst>
          </p:cNvPr>
          <p:cNvSpPr txBox="1"/>
          <p:nvPr/>
        </p:nvSpPr>
        <p:spPr>
          <a:xfrm>
            <a:off x="5994400" y="2743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LDR Sensor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A5504E-B5B6-FDA7-EC38-1F6383FFC8E2}"/>
              </a:ext>
            </a:extLst>
          </p:cNvPr>
          <p:cNvSpPr txBox="1"/>
          <p:nvPr/>
        </p:nvSpPr>
        <p:spPr>
          <a:xfrm>
            <a:off x="9093200" y="2743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Adafruit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A2F624-30F3-131F-3181-B167FE49676A}"/>
              </a:ext>
            </a:extLst>
          </p:cNvPr>
          <p:cNvSpPr txBox="1"/>
          <p:nvPr/>
        </p:nvSpPr>
        <p:spPr>
          <a:xfrm>
            <a:off x="10668000" y="27432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FFC870"/>
                </a:solidFill>
                <a:latin typeface="Segoe UI" panose="020B0502040204020203" pitchFamily="34" charset="0"/>
              </a:rPr>
              <a:t>$2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70D1C3-0AE8-65BA-2378-1BF9406A2CE3}"/>
              </a:ext>
            </a:extLst>
          </p:cNvPr>
          <p:cNvSpPr/>
          <p:nvPr/>
        </p:nvSpPr>
        <p:spPr>
          <a:xfrm>
            <a:off x="5943600" y="3175000"/>
            <a:ext cx="6146800" cy="431800"/>
          </a:xfrm>
          <a:prstGeom prst="rect">
            <a:avLst/>
          </a:prstGeom>
          <a:solidFill>
            <a:srgbClr val="122A40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EC8D5D-E987-E068-7681-DDC52BE30133}"/>
              </a:ext>
            </a:extLst>
          </p:cNvPr>
          <p:cNvSpPr txBox="1"/>
          <p:nvPr/>
        </p:nvSpPr>
        <p:spPr>
          <a:xfrm>
            <a:off x="5994400" y="3225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5V Active Buzzer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0D1633-5E90-288C-446D-DA2777BEBF3D}"/>
              </a:ext>
            </a:extLst>
          </p:cNvPr>
          <p:cNvSpPr txBox="1"/>
          <p:nvPr/>
        </p:nvSpPr>
        <p:spPr>
          <a:xfrm>
            <a:off x="9093200" y="32258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Amazon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49479E-0549-B1F0-F0E3-054282CE7029}"/>
              </a:ext>
            </a:extLst>
          </p:cNvPr>
          <p:cNvSpPr txBox="1"/>
          <p:nvPr/>
        </p:nvSpPr>
        <p:spPr>
          <a:xfrm>
            <a:off x="10668000" y="3225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FFC870"/>
                </a:solidFill>
                <a:latin typeface="Segoe UI" panose="020B0502040204020203" pitchFamily="34" charset="0"/>
              </a:rPr>
              <a:t>$3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0167B8-A53E-A070-D4B3-FECD5235DFC9}"/>
              </a:ext>
            </a:extLst>
          </p:cNvPr>
          <p:cNvSpPr/>
          <p:nvPr/>
        </p:nvSpPr>
        <p:spPr>
          <a:xfrm>
            <a:off x="5943600" y="3657600"/>
            <a:ext cx="6146800" cy="4318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04AA3C-4F3F-4CA1-B042-8AF4556AB879}"/>
              </a:ext>
            </a:extLst>
          </p:cNvPr>
          <p:cNvSpPr txBox="1"/>
          <p:nvPr/>
        </p:nvSpPr>
        <p:spPr>
          <a:xfrm>
            <a:off x="5994400" y="3708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5mm LEDs (Red+Blue)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5AC755-52E0-DE79-879B-2F787ACAB35A}"/>
              </a:ext>
            </a:extLst>
          </p:cNvPr>
          <p:cNvSpPr txBox="1"/>
          <p:nvPr/>
        </p:nvSpPr>
        <p:spPr>
          <a:xfrm>
            <a:off x="9093200" y="37084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Amazon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9C50B8-C601-22EC-A176-959AD6AFE1BC}"/>
              </a:ext>
            </a:extLst>
          </p:cNvPr>
          <p:cNvSpPr txBox="1"/>
          <p:nvPr/>
        </p:nvSpPr>
        <p:spPr>
          <a:xfrm>
            <a:off x="10668000" y="37084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FFC870"/>
                </a:solidFill>
                <a:latin typeface="Segoe UI" panose="020B0502040204020203" pitchFamily="34" charset="0"/>
              </a:rPr>
              <a:t>$4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EF8DBC8-3898-84E9-DD5A-5FD3C236CC4A}"/>
              </a:ext>
            </a:extLst>
          </p:cNvPr>
          <p:cNvSpPr/>
          <p:nvPr/>
        </p:nvSpPr>
        <p:spPr>
          <a:xfrm>
            <a:off x="5943600" y="4140200"/>
            <a:ext cx="6146800" cy="431800"/>
          </a:xfrm>
          <a:prstGeom prst="rect">
            <a:avLst/>
          </a:prstGeom>
          <a:solidFill>
            <a:srgbClr val="122A40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284874-FD19-410F-F480-BE1BDC18B246}"/>
              </a:ext>
            </a:extLst>
          </p:cNvPr>
          <p:cNvSpPr txBox="1"/>
          <p:nvPr/>
        </p:nvSpPr>
        <p:spPr>
          <a:xfrm>
            <a:off x="5994400" y="4191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D400 Transistors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10E861-8CD0-1D80-D5A0-47057EBE3221}"/>
              </a:ext>
            </a:extLst>
          </p:cNvPr>
          <p:cNvSpPr txBox="1"/>
          <p:nvPr/>
        </p:nvSpPr>
        <p:spPr>
          <a:xfrm>
            <a:off x="9093200" y="41910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Amazon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416473-5A06-F53D-0B2C-9C073E74D7A5}"/>
              </a:ext>
            </a:extLst>
          </p:cNvPr>
          <p:cNvSpPr txBox="1"/>
          <p:nvPr/>
        </p:nvSpPr>
        <p:spPr>
          <a:xfrm>
            <a:off x="10668000" y="4191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FFC870"/>
                </a:solidFill>
                <a:latin typeface="Segoe UI" panose="020B0502040204020203" pitchFamily="34" charset="0"/>
              </a:rPr>
              <a:t>$3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43D297A-9B2A-98E5-0C20-1FD78E112DB1}"/>
              </a:ext>
            </a:extLst>
          </p:cNvPr>
          <p:cNvSpPr/>
          <p:nvPr/>
        </p:nvSpPr>
        <p:spPr>
          <a:xfrm>
            <a:off x="5943600" y="4622800"/>
            <a:ext cx="6146800" cy="431800"/>
          </a:xfrm>
          <a:prstGeom prst="rect">
            <a:avLst/>
          </a:prstGeom>
          <a:solidFill>
            <a:srgbClr val="1A324A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FE8498-CABB-073E-A25D-4161683B365F}"/>
              </a:ext>
            </a:extLst>
          </p:cNvPr>
          <p:cNvSpPr txBox="1"/>
          <p:nvPr/>
        </p:nvSpPr>
        <p:spPr>
          <a:xfrm>
            <a:off x="5994400" y="4673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Resistor Kit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9F15BC-15CE-7A0A-EC25-BB00E1D80B1D}"/>
              </a:ext>
            </a:extLst>
          </p:cNvPr>
          <p:cNvSpPr txBox="1"/>
          <p:nvPr/>
        </p:nvSpPr>
        <p:spPr>
          <a:xfrm>
            <a:off x="9093200" y="4673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Amazon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17D3C5-31FC-D41A-1D16-9D46C4722673}"/>
              </a:ext>
            </a:extLst>
          </p:cNvPr>
          <p:cNvSpPr txBox="1"/>
          <p:nvPr/>
        </p:nvSpPr>
        <p:spPr>
          <a:xfrm>
            <a:off x="10668000" y="4673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FFC870"/>
                </a:solidFill>
                <a:latin typeface="Segoe UI" panose="020B0502040204020203" pitchFamily="34" charset="0"/>
              </a:rPr>
              <a:t>$5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50AB688-F06F-8A79-8B11-952D8320B052}"/>
              </a:ext>
            </a:extLst>
          </p:cNvPr>
          <p:cNvSpPr/>
          <p:nvPr/>
        </p:nvSpPr>
        <p:spPr>
          <a:xfrm>
            <a:off x="5943600" y="5105400"/>
            <a:ext cx="6146800" cy="431800"/>
          </a:xfrm>
          <a:prstGeom prst="rect">
            <a:avLst/>
          </a:prstGeom>
          <a:solidFill>
            <a:srgbClr val="122A40"/>
          </a:solidFill>
          <a:ln w="12700">
            <a:solidFill>
              <a:srgbClr val="2A5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31BE0B-CEDE-1B65-086D-8C105DD0AB3C}"/>
              </a:ext>
            </a:extLst>
          </p:cNvPr>
          <p:cNvSpPr txBox="1"/>
          <p:nvPr/>
        </p:nvSpPr>
        <p:spPr>
          <a:xfrm>
            <a:off x="5994400" y="5156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50">
                <a:solidFill>
                  <a:srgbClr val="FFFFFF"/>
                </a:solidFill>
                <a:latin typeface="Segoe UI" panose="020B0502040204020203" pitchFamily="34" charset="0"/>
              </a:rPr>
              <a:t>Custom PCB (x5)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F817F7-5292-BB0F-C279-CC54C1D56C6B}"/>
              </a:ext>
            </a:extLst>
          </p:cNvPr>
          <p:cNvSpPr txBox="1"/>
          <p:nvPr/>
        </p:nvSpPr>
        <p:spPr>
          <a:xfrm>
            <a:off x="9093200" y="5156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B0C4D8"/>
                </a:solidFill>
                <a:latin typeface="Segoe UI" panose="020B0502040204020203" pitchFamily="34" charset="0"/>
              </a:rPr>
              <a:t>JLCPCB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6A2064-019F-2AF3-C767-D47ED89E5694}"/>
              </a:ext>
            </a:extLst>
          </p:cNvPr>
          <p:cNvSpPr txBox="1"/>
          <p:nvPr/>
        </p:nvSpPr>
        <p:spPr>
          <a:xfrm>
            <a:off x="10668000" y="51562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50">
                <a:solidFill>
                  <a:srgbClr val="FFC870"/>
                </a:solidFill>
                <a:latin typeface="Segoe UI" panose="020B0502040204020203" pitchFamily="34" charset="0"/>
              </a:rPr>
              <a:t>$8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FA5DA30-9C3F-0866-EB5E-C86F38BCAE0B}"/>
              </a:ext>
            </a:extLst>
          </p:cNvPr>
          <p:cNvSpPr/>
          <p:nvPr/>
        </p:nvSpPr>
        <p:spPr>
          <a:xfrm>
            <a:off x="5943600" y="5638800"/>
            <a:ext cx="6146800" cy="381000"/>
          </a:xfrm>
          <a:prstGeom prst="rect">
            <a:avLst/>
          </a:prstGeom>
          <a:solidFill>
            <a:srgbClr val="1A3A1A"/>
          </a:solidFill>
          <a:ln w="12700">
            <a:solidFill>
              <a:srgbClr val="80E8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69DF8F-209B-14F4-CE24-C5F3C51DA514}"/>
              </a:ext>
            </a:extLst>
          </p:cNvPr>
          <p:cNvSpPr txBox="1"/>
          <p:nvPr/>
        </p:nvSpPr>
        <p:spPr>
          <a:xfrm>
            <a:off x="5994400" y="57023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Estimated Total Cost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E6F000-341D-6E51-749E-0E0D9269D767}"/>
              </a:ext>
            </a:extLst>
          </p:cNvPr>
          <p:cNvSpPr txBox="1"/>
          <p:nvPr/>
        </p:nvSpPr>
        <p:spPr>
          <a:xfrm>
            <a:off x="10668000" y="57023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000" b="1">
                <a:solidFill>
                  <a:srgbClr val="FFC870"/>
                </a:solidFill>
                <a:latin typeface="Segoe UI" panose="020B0502040204020203" pitchFamily="34" charset="0"/>
              </a:rPr>
              <a:t>~$36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8055FB4-41FB-9B16-8C10-8F67918F3809}"/>
              </a:ext>
            </a:extLst>
          </p:cNvPr>
          <p:cNvSpPr/>
          <p:nvPr/>
        </p:nvSpPr>
        <p:spPr>
          <a:xfrm>
            <a:off x="0" y="6527800"/>
            <a:ext cx="12192000" cy="330200"/>
          </a:xfrm>
          <a:prstGeom prst="rect">
            <a:avLst/>
          </a:prstGeom>
          <a:solidFill>
            <a:srgbClr val="122A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7398595-8306-2318-A665-12FD1C62B926}"/>
              </a:ext>
            </a:extLst>
          </p:cNvPr>
          <p:cNvSpPr txBox="1"/>
          <p:nvPr/>
        </p:nvSpPr>
        <p:spPr>
          <a:xfrm>
            <a:off x="101600" y="6553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CSCE 5612  |  Embedded Hardware/Software Design  |  Spring 2026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F7EDB0-9AE0-EFB4-AEEB-D92F2727B7F3}"/>
              </a:ext>
            </a:extLst>
          </p:cNvPr>
          <p:cNvSpPr txBox="1"/>
          <p:nvPr/>
        </p:nvSpPr>
        <p:spPr>
          <a:xfrm>
            <a:off x="11176000" y="65532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800">
                <a:solidFill>
                  <a:srgbClr val="2A5A8A"/>
                </a:solidFill>
                <a:latin typeface="Segoe UI" panose="020B0502040204020203" pitchFamily="34" charset="0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3269233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1398</Words>
  <Application>Microsoft Office PowerPoint</Application>
  <PresentationFormat>Custom</PresentationFormat>
  <Paragraphs>235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Ramineni, Udayasai</dc:creator>
  <cp:lastModifiedBy>Ramineni, Udayasai</cp:lastModifiedBy>
  <cp:revision>2</cp:revision>
  <dcterms:created xsi:type="dcterms:W3CDTF">2026-03-03T18:44:08Z</dcterms:created>
  <dcterms:modified xsi:type="dcterms:W3CDTF">2026-03-03T19:39:13Z</dcterms:modified>
</cp:coreProperties>
</file>