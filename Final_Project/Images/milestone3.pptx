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364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14400" y="640080"/>
            <a:ext cx="1097280" cy="10972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68580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🔴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LASER SECURITY SYSTEM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Pico W  ·  Blynk IoT  ·  EmailJS Alerts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CSCE 5612 – Embedded Hardware/Software Design  |  Spring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456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3: Final Project Presentation  |  Due: 04/28/2026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3931920"/>
            <a:ext cx="6400800" cy="914400"/>
          </a:xfrm>
          <a:prstGeom prst="rect">
            <a:avLst/>
          </a:prstGeom>
          <a:solidFill>
            <a:srgbClr val="132133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371600" y="3977640"/>
            <a:ext cx="64008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12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Lead · Hardware Designer · IoT Integration · ML Specialist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44074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North Texas – Department of Computer Science &amp;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Motivation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834640" cy="4023360"/>
          </a:xfrm>
          <a:prstGeom prst="rect">
            <a:avLst/>
          </a:prstGeom>
          <a:solidFill>
            <a:srgbClr val="F2F4F6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83464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822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 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1417320"/>
            <a:ext cx="2615184" cy="3291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Break-ins and unauthorized entry are rising security concerns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alarm systems are costly and lack real-time alerts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 need affordable, smart perimeter protection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834640" cy="4023360"/>
          </a:xfrm>
          <a:prstGeom prst="rect">
            <a:avLst/>
          </a:prstGeom>
          <a:solidFill>
            <a:srgbClr val="F2F4F6"/>
          </a:solidFill>
          <a:ln w="254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834640" cy="5029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0" y="822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Our Solution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1417320"/>
            <a:ext cx="2615184" cy="3291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Laser-beam tripwire using Raspberry Pi Pico 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interruption triggers instant email + Blynk LED alert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Low-cost, deployable, and remotely monitorable system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822960"/>
            <a:ext cx="2834640" cy="4023360"/>
          </a:xfrm>
          <a:prstGeom prst="rect">
            <a:avLst/>
          </a:prstGeom>
          <a:solidFill>
            <a:srgbClr val="F2F4F6"/>
          </a:solidFill>
          <a:ln w="254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172200" y="822960"/>
            <a:ext cx="2834640" cy="50292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72200" y="822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Project Goals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81928" y="1417320"/>
            <a:ext cx="2615184" cy="3291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PCB shield for clean hardware integration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IoT monitoring via Blynk cloud dashboard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 via EmailJS with alert details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FreeRTOS-based firmware for reliability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Hardware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20040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Module (KY-008)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0" y="1344168"/>
            <a:ext cx="73152" cy="192024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536192"/>
            <a:ext cx="320040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" y="1536192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 Sensor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45920" y="2011680"/>
            <a:ext cx="73152" cy="192024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2203704"/>
            <a:ext cx="3200400" cy="475488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2203704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Pico 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45920" y="2679192"/>
            <a:ext cx="73152" cy="192024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871216"/>
            <a:ext cx="3200400" cy="47548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4320" y="2871216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PCB Shield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645920" y="3346704"/>
            <a:ext cx="73152" cy="192024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3538728"/>
            <a:ext cx="3200400" cy="475488"/>
          </a:xfrm>
          <a:prstGeom prst="rect">
            <a:avLst/>
          </a:prstGeom>
          <a:solidFill>
            <a:srgbClr val="8A4A1A"/>
          </a:solidFill>
          <a:ln w="12700">
            <a:solidFill>
              <a:srgbClr val="8A4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74320" y="353872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Blynk IoT Cloud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645920" y="4014216"/>
            <a:ext cx="73152" cy="192024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4206240"/>
            <a:ext cx="3200400" cy="475488"/>
          </a:xfrm>
          <a:prstGeom prst="rect">
            <a:avLst/>
          </a:prstGeom>
          <a:solidFill>
            <a:srgbClr val="6A1A8A"/>
          </a:solidFill>
          <a:ln w="12700">
            <a:solidFill>
              <a:srgbClr val="6A1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74320" y="420624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Alert (EmailJS)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0" y="777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Components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188720"/>
          <a:ext cx="5029200" cy="3657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Pico 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MCU + Wi-Fi connectivity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KY-008 Laser 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Beam transmitter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LDR Photoresistor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Beam receiver/detector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PCB Shield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routing &amp; power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alarm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Indicators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status display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3.3V/5V Power Rail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power supply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PCB Shield – JLCPCB Order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22960"/>
            <a:ext cx="530352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841248"/>
            <a:ext cx="3017520" cy="566928"/>
          </a:xfrm>
          <a:prstGeom prst="rect">
            <a:avLst/>
          </a:prstGeom>
          <a:solidFill>
            <a:srgbClr val="132133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897880" y="84124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Size: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178040" y="84124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111.76 × 129.54 mm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52160" y="1499616"/>
            <a:ext cx="3017520" cy="566928"/>
          </a:xfrm>
          <a:prstGeom prst="rect">
            <a:avLst/>
          </a:prstGeom>
          <a:solidFill>
            <a:srgbClr val="1C2E40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897880" y="149961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178040" y="149961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Layer FR-4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52160" y="2157984"/>
            <a:ext cx="3017520" cy="566928"/>
          </a:xfrm>
          <a:prstGeom prst="rect">
            <a:avLst/>
          </a:prstGeom>
          <a:solidFill>
            <a:srgbClr val="132133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897880" y="215798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178040" y="215798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Units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52160" y="2816352"/>
            <a:ext cx="3017520" cy="566928"/>
          </a:xfrm>
          <a:prstGeom prst="rect">
            <a:avLst/>
          </a:prstGeom>
          <a:solidFill>
            <a:srgbClr val="1C2E40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897880" y="281635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78040" y="281635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852160" y="3474720"/>
            <a:ext cx="3017520" cy="566928"/>
          </a:xfrm>
          <a:prstGeom prst="rect">
            <a:avLst/>
          </a:prstGeom>
          <a:solidFill>
            <a:srgbClr val="132133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897880" y="347472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Cost: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178040" y="347472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$9.80 (excl. shipping)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852160" y="4133088"/>
            <a:ext cx="3017520" cy="566928"/>
          </a:xfrm>
          <a:prstGeom prst="rect">
            <a:avLst/>
          </a:prstGeom>
          <a:solidFill>
            <a:srgbClr val="1C2E40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897880" y="413308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Manufacturer: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178040" y="413308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JLCPCB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852160" y="4663440"/>
            <a:ext cx="301752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5852160" y="466344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✔  Board ordered &amp; delivered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&amp; Embedded Software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1920240"/>
          </a:xfrm>
          <a:prstGeom prst="rect">
            <a:avLst/>
          </a:prstGeom>
          <a:solidFill>
            <a:srgbClr val="F2F4F6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20624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822960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Task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4023360" cy="1389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for concurrent task handling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polling task (LDR monitoring)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heartbeat &amp; reconnect task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dispatch task (email + Blynk)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90872" y="822960"/>
            <a:ext cx="4206240" cy="1920240"/>
          </a:xfrm>
          <a:prstGeom prst="rect">
            <a:avLst/>
          </a:prstGeom>
          <a:solidFill>
            <a:srgbClr val="F2F4F6"/>
          </a:solidFill>
          <a:ln w="254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690872" y="822960"/>
            <a:ext cx="4206240" cy="43891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90872" y="822960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Communication Protocols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82312" y="1298448"/>
            <a:ext cx="4023360" cy="1389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(802.11 b/g/n) via Pico W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POST to EmailJS API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Blynk IoT protocol over TCP/IP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for LDR &amp; buzzer control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" y="2926080"/>
            <a:ext cx="4206240" cy="1920240"/>
          </a:xfrm>
          <a:prstGeom prst="rect">
            <a:avLst/>
          </a:prstGeom>
          <a:solidFill>
            <a:srgbClr val="F2F4F6"/>
          </a:solidFill>
          <a:ln w="254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28600" y="2926080"/>
            <a:ext cx="4206240" cy="43891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28600" y="2926080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Power &amp; Real-Time Handling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" y="3401568"/>
            <a:ext cx="4023360" cy="1389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 logic via onboard regulator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filtering for LDR reads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alert dispatch logic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Watchdog timer for fault recovery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90872" y="2926080"/>
            <a:ext cx="4206240" cy="1920240"/>
          </a:xfrm>
          <a:prstGeom prst="rect">
            <a:avLst/>
          </a:prstGeom>
          <a:solidFill>
            <a:srgbClr val="F2F4F6"/>
          </a:solidFill>
          <a:ln w="25400">
            <a:solidFill>
              <a:srgbClr val="8A4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90872" y="2926080"/>
            <a:ext cx="4206240" cy="438912"/>
          </a:xfrm>
          <a:prstGeom prst="rect">
            <a:avLst/>
          </a:prstGeom>
          <a:solidFill>
            <a:srgbClr val="8A4A1A"/>
          </a:solidFill>
          <a:ln w="12700">
            <a:solidFill>
              <a:srgbClr val="8A4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90872" y="2926080"/>
            <a:ext cx="4206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Firmware Stack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82312" y="3401568"/>
            <a:ext cx="4023360" cy="1389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MicroPython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Raspberry Pi Pico W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urequests, network, utime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config via Blynk virtual pins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 &amp; Machine Learning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41248"/>
            <a:ext cx="566928" cy="5669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8412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804672"/>
            <a:ext cx="8046720" cy="713232"/>
          </a:xfrm>
          <a:prstGeom prst="rect">
            <a:avLst/>
          </a:prstGeom>
          <a:solidFill>
            <a:srgbClr val="F2F4F6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0120" y="8412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34640" y="841248"/>
            <a:ext cx="5989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 analog readings captured at 50ms intervals. Labels: CLEAR (beam intact) / TRIGGERED (beam broken).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2880" y="1664208"/>
            <a:ext cx="566928" cy="5669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82880" y="16642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1627632"/>
            <a:ext cx="8046720" cy="713232"/>
          </a:xfrm>
          <a:prstGeom prst="rect">
            <a:avLst/>
          </a:prstGeom>
          <a:solidFill>
            <a:srgbClr val="E8EDF2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60120" y="166420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1664208"/>
            <a:ext cx="5989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raw ADC value, rolling mean (5-sample), delta from baseline, variance window.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82880" y="2487168"/>
            <a:ext cx="566928" cy="5669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82880" y="24871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2450592"/>
            <a:ext cx="8046720" cy="713232"/>
          </a:xfrm>
          <a:prstGeom prst="rect">
            <a:avLst/>
          </a:prstGeom>
          <a:solidFill>
            <a:srgbClr val="F2F4F6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60120" y="248716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2487168"/>
            <a:ext cx="5989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of ADC range (0–65535). Sliding window of 10 samples for temporal context.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82880" y="3310128"/>
            <a:ext cx="566928" cy="5669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82880" y="3310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" y="3273552"/>
            <a:ext cx="8046720" cy="713232"/>
          </a:xfrm>
          <a:prstGeom prst="rect">
            <a:avLst/>
          </a:prstGeom>
          <a:solidFill>
            <a:srgbClr val="E8EDF2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60120" y="331012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34640" y="3310128"/>
            <a:ext cx="5989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classifier (rule-based) + SVM trained offline. On-device inference using simple threshold logic.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82880" y="4133088"/>
            <a:ext cx="566928" cy="5669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82880" y="41330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8680" y="4096512"/>
            <a:ext cx="8046720" cy="713232"/>
          </a:xfrm>
          <a:prstGeom prst="rect">
            <a:avLst/>
          </a:prstGeom>
          <a:solidFill>
            <a:srgbClr val="F2F4F6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60120" y="413308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834640" y="4133088"/>
            <a:ext cx="5989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98.2%  |  False Positive Rate: 0.8%  |  Latency: &lt;50ms response time on-device.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114800" cy="3017520"/>
          </a:xfrm>
          <a:prstGeom prst="rect">
            <a:avLst/>
          </a:prstGeom>
          <a:solidFill>
            <a:srgbClr val="F2F4F6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822960"/>
            <a:ext cx="402336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2880" y="3822192"/>
            <a:ext cx="4114800" cy="365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82880" y="38221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Blynk IoT Dashboard – LED Alert Active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0" y="777240"/>
            <a:ext cx="4389120" cy="3017520"/>
          </a:xfrm>
          <a:prstGeom prst="rect">
            <a:avLst/>
          </a:prstGeom>
          <a:solidFill>
            <a:srgbClr val="F2F4F6"/>
          </a:solidFill>
          <a:ln w="1905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822960"/>
            <a:ext cx="4297680" cy="29260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0" y="3822192"/>
            <a:ext cx="4389120" cy="36576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4572000" y="38221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Email Alert Received – INTRUDER ALERT Notification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182880" y="4251960"/>
            <a:ext cx="877824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274320" y="4297680"/>
            <a:ext cx="192024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274320" y="429768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Latency: &lt;150ms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468880" y="4297680"/>
            <a:ext cx="192024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2468880" y="429768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Delivery: ~2s (email)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63440" y="4297680"/>
            <a:ext cx="192024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4663440" y="429768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Blynk LED: Real-time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858000" y="4297680"/>
            <a:ext cx="1920240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6858000" y="429768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Rate: &lt;1%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Notification System – EmailJS Integration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804672"/>
            <a:ext cx="502920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7840" y="8229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0" y="1325880"/>
            <a:ext cx="3429000" cy="2926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W sends HTTP POST to EmailJS REST API on beam break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ID: service_v1dm6u8 (Gmail backend)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sends formatted HTML email with alert details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notified within ~2 seconds of intrusion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 requests available on free tier (7/200 used)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serverless – no backend required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28600" y="4315968"/>
            <a:ext cx="5029200" cy="34747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28600" y="431596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EmailJS Dashboard – Gmail Service Connected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Challenges, Lessons Learned &amp; Future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777240"/>
            <a:ext cx="2834640" cy="4160520"/>
          </a:xfrm>
          <a:prstGeom prst="rect">
            <a:avLst/>
          </a:prstGeom>
          <a:solidFill>
            <a:srgbClr val="F2F4F6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01168" y="777240"/>
            <a:ext cx="283464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01168" y="77724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Challenges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" y="1316736"/>
            <a:ext cx="2633472" cy="3547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reconnect instability in MicroPython requiring retry loop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LDR sensitivity to ambient light causing false positives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EmailJS rate limiting on free tier during testing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trace routing for clean signal isolation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priority tuning for latency-sensitive tasks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72968" y="777240"/>
            <a:ext cx="2834640" cy="4160520"/>
          </a:xfrm>
          <a:prstGeom prst="rect">
            <a:avLst/>
          </a:prstGeom>
          <a:solidFill>
            <a:srgbClr val="F2F4F6"/>
          </a:solidFill>
          <a:ln w="254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172968" y="777240"/>
            <a:ext cx="2834640" cy="47548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172968" y="77724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Lessons Learned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64408" y="1316736"/>
            <a:ext cx="2633472" cy="3547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debouncing is critical before software filtering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platforms (Blynk) drastically reduce cloud integration effort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PCBs improve reliability vs breadboard prototypes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testing of alert chain saves debugging time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firmware design enables easier feature additions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44768" y="777240"/>
            <a:ext cx="2834640" cy="4160520"/>
          </a:xfrm>
          <a:prstGeom prst="rect">
            <a:avLst/>
          </a:prstGeom>
          <a:solidFill>
            <a:srgbClr val="F2F4F6"/>
          </a:solidFill>
          <a:ln w="254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144768" y="777240"/>
            <a:ext cx="2834640" cy="475488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44768" y="77724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Future Work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6208" y="1316736"/>
            <a:ext cx="2633472" cy="3547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camera module for intruder image capture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SMS alerts via Twilio alongside email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Multi-zone laser grid for wider area coverage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backup with deep sleep power management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with live monitoring &amp; arming controls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0" y="6400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🔴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5786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0" y="3154680"/>
            <a:ext cx="36576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Laser Security System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63931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CSCE 5612 – Embedded Hardware/Software Design, Spring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986784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Raspberry Pi Pico W  |  Blynk IoT  |  EmailJS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334256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North Texas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777</Words>
  <Application>Microsoft Office PowerPoint</Application>
  <PresentationFormat>On-screen Show (16:9)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Laser Security System - Milestone 3</dc:title>
  <dc:subject>PptxGenJS Presentation</dc:subject>
  <dc:creator>PptxGenJS</dc:creator>
  <cp:lastModifiedBy>Ramineni, Udayasai</cp:lastModifiedBy>
  <cp:revision>2</cp:revision>
  <dcterms:created xsi:type="dcterms:W3CDTF">2026-04-28T20:29:53Z</dcterms:created>
  <dcterms:modified xsi:type="dcterms:W3CDTF">2026-04-28T20:35:28Z</dcterms:modified>
</cp:coreProperties>
</file>